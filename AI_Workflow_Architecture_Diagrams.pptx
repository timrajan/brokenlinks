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Diagram-oriented restyling of the agreed architecture, using user reference Agentic_RAG_MCP_Architecture.pptx: white background, blue text, light yellow blocks. Nodes and arrows editable. Gateway receives only model traffic; backend owns retrieval, authorisation and citations. External platforms are optional future routes only. No demo content. Technical choices subject to security approval. Arrows on conceptual overview slides indicate progression, not necessarily direct network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Diagram-oriented restyling of the agreed architecture, using user reference Agentic_RAG_MCP_Architecture.pptx: white background, blue text, light yellow blocks. Nodes and arrows editable. Gateway receives only model traffic; backend owns retrieval, authorisation and citations. External platforms are optional future routes only. No demo content. Technical choices subject to security approval. Arrows on conceptual overview slides indicate progression, not necessarily direct network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Diagram-oriented restyling of the agreed architecture, using user reference Agentic_RAG_MCP_Architecture.pptx: white background, blue text, light yellow blocks. Nodes and arrows editable. Gateway receives only model traffic; backend owns retrieval, authorisation and citations. External platforms are optional future routes only. No demo content. Technical choices subject to security approval. Arrows on conceptual overview slides indicate progression, not necessarily direct network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Diagram-oriented restyling of the agreed architecture, using user reference Agentic_RAG_MCP_Architecture.pptx: white background, blue text, light yellow blocks. Nodes and arrows editable. Gateway receives only model traffic; backend owns retrieval, authorisation and citations. External platforms are optional future routes only. No demo content. Technical choices subject to security approval. Arrows on conceptual overview slides indicate progression, not necessarily direct network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Diagram-oriented restyling of the agreed architecture, using user reference Agentic_RAG_MCP_Architecture.pptx: white background, blue text, light yellow blocks. Nodes and arrows editable. Gateway receives only model traffic; backend owns retrieval, authorisation and citations. External platforms are optional future routes only. No demo content. Technical choices subject to security approval. Arrows on conceptual overview slides indicate progression, not necessarily direct network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Diagram-oriented restyling of the agreed architecture, using user reference Agentic_RAG_MCP_Architecture.pptx: white background, blue text, light yellow blocks. Nodes and arrows editable. Gateway receives only model traffic; backend owns retrieval, authorisation and citations. External platforms are optional future routes only. No demo content. Technical choices subject to security approval. Arrows on conceptual overview slides indicate progression, not necessarily direct network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Diagram-oriented restyling of the agreed architecture, using user reference Agentic_RAG_MCP_Architecture.pptx: white background, blue text, light yellow blocks. Nodes and arrows editable. Gateway receives only model traffic; backend owns retrieval, authorisation and citations. External platforms are optional future routes only. No demo content. Technical choices subject to security approval. Arrows on conceptual overview slides indicate progression, not necessarily direct network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Diagram-oriented restyling of the agreed architecture, using user reference Agentic_RAG_MCP_Architecture.pptx: white background, blue text, light yellow blocks. Nodes and arrows editable. Gateway receives only model traffic; backend owns retrieval, authorisation and citations. External platforms are optional future routes only. No demo content. Technical choices subject to security approval. Arrows on conceptual overview slides indicate progression, not necessarily direct network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Diagram-oriented restyling of the agreed architecture, using user reference Agentic_RAG_MCP_Architecture.pptx: white background, blue text, light yellow blocks. Nodes and arrows editable. Gateway receives only model traffic; backend owns retrieval, authorisation and citations. External platforms are optional future routes only. No demo content. Technical choices subject to security approval. Arrows on conceptual overview slides indicate progression, not necessarily direct network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Diagram-oriented restyling of the agreed architecture, using user reference Agentic_RAG_MCP_Architecture.pptx: white background, blue text, light yellow blocks. Nodes and arrows editable. Gateway receives only model traffic; backend owns retrieval, authorisation and citations. External platforms are optional future routes only. No demo content. Technical choices subject to security approval. Arrows on conceptual overview slides indicate progression, not necessarily direct network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Diagram-oriented restyling of the agreed architecture, using user reference Agentic_RAG_MCP_Architecture.pptx: white background, blue text, light yellow blocks. Nodes and arrows editable. Gateway receives only model traffic; backend owns retrieval, authorisation and citations. External platforms are optional future routes only. No demo content. Technical choices subject to security approval. Arrows on conceptual overview slides indicate progression, not necessarily direct network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Diagram-oriented restyling of the agreed architecture, using user reference Agentic_RAG_MCP_Architecture.pptx: white background, blue text, light yellow blocks. Nodes and arrows editable. Gateway receives only model traffic; backend owns retrieval, authorisation and citations. External platforms are optional future routes only. No demo content. Technical choices subject to security approval. Arrows on conceptual overview slides indicate progression, not necessarily direct network connections.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3716000" cy="594360"/>
          </a:xfrm>
          <a:prstGeom prst="rect">
            <a:avLst/>
          </a:prstGeom>
          <a:noFill/>
        </p:spPr>
        <p:txBody>
          <a:bodyPr wrap="square">
            <a:spAutoFit/>
          </a:bodyPr>
          <a:lstStyle/>
          <a:p>
            <a:pPr>
              <a:defRPr sz="2900" b="1">
                <a:solidFill>
                  <a:srgbClr val="213C57"/>
                </a:solidFill>
                <a:latin typeface="Aptos"/>
              </a:defRPr>
            </a:pPr>
            <a:r>
              <a:t>Whole architecture — request, evidence and response</a:t>
            </a:r>
          </a:p>
        </p:txBody>
      </p:sp>
      <p:sp>
        <p:nvSpPr>
          <p:cNvPr id="3" name="TextBox 2"/>
          <p:cNvSpPr txBox="1"/>
          <p:nvPr/>
        </p:nvSpPr>
        <p:spPr>
          <a:xfrm>
            <a:off x="502920" y="960120"/>
            <a:ext cx="13716000" cy="457200"/>
          </a:xfrm>
          <a:prstGeom prst="rect">
            <a:avLst/>
          </a:prstGeom>
          <a:noFill/>
        </p:spPr>
        <p:txBody>
          <a:bodyPr wrap="square">
            <a:spAutoFit/>
          </a:bodyPr>
          <a:lstStyle/>
          <a:p>
            <a:pPr>
              <a:defRPr sz="1500" b="0">
                <a:solidFill>
                  <a:srgbClr val="61768A"/>
                </a:solidFill>
                <a:latin typeface="Aptos"/>
              </a:defRPr>
            </a:pPr>
            <a:r>
              <a:t>Solid arrows show data flow. The backend—not the LLM—queries PostgreSQL.</a:t>
            </a:r>
          </a:p>
        </p:txBody>
      </p:sp>
      <p:sp>
        <p:nvSpPr>
          <p:cNvPr id="4" name="TextBox 3"/>
          <p:cNvSpPr txBox="1"/>
          <p:nvPr/>
        </p:nvSpPr>
        <p:spPr>
          <a:xfrm>
            <a:off x="502920" y="7863840"/>
            <a:ext cx="12801600" cy="228600"/>
          </a:xfrm>
          <a:prstGeom prst="rect">
            <a:avLst/>
          </a:prstGeom>
          <a:noFill/>
        </p:spPr>
        <p:txBody>
          <a:bodyPr wrap="square">
            <a:spAutoFit/>
          </a:bodyPr>
          <a:lstStyle/>
          <a:p>
            <a:pPr>
              <a:defRPr sz="1000" b="0">
                <a:solidFill>
                  <a:srgbClr val="61768A"/>
                </a:solidFill>
                <a:latin typeface="Aptos"/>
              </a:defRPr>
            </a:pPr>
            <a:r>
              <a:t>CONFIDENTIAL — INTERNAL DISCUSSION | Proposed architecture • All components editable</a:t>
            </a:r>
          </a:p>
        </p:txBody>
      </p:sp>
      <p:sp>
        <p:nvSpPr>
          <p:cNvPr id="5" name="TextBox 4"/>
          <p:cNvSpPr txBox="1"/>
          <p:nvPr/>
        </p:nvSpPr>
        <p:spPr>
          <a:xfrm>
            <a:off x="13533120" y="7863840"/>
            <a:ext cx="914400" cy="228600"/>
          </a:xfrm>
          <a:prstGeom prst="rect">
            <a:avLst/>
          </a:prstGeom>
          <a:noFill/>
        </p:spPr>
        <p:txBody>
          <a:bodyPr wrap="square">
            <a:spAutoFit/>
          </a:bodyPr>
          <a:lstStyle/>
          <a:p>
            <a:pPr>
              <a:defRPr sz="1000" b="0">
                <a:solidFill>
                  <a:srgbClr val="213C57"/>
                </a:solidFill>
                <a:latin typeface="Aptos"/>
              </a:defRPr>
            </a:pPr>
            <a:r>
              <a:t>1</a:t>
            </a:r>
          </a:p>
        </p:txBody>
      </p:sp>
      <p:sp>
        <p:nvSpPr>
          <p:cNvPr id="6" name="Rectangle 5"/>
          <p:cNvSpPr/>
          <p:nvPr/>
        </p:nvSpPr>
        <p:spPr>
          <a:xfrm>
            <a:off x="502920" y="1828800"/>
            <a:ext cx="2377440" cy="12801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938528"/>
            <a:ext cx="2157984" cy="457200"/>
          </a:xfrm>
          <a:prstGeom prst="rect">
            <a:avLst/>
          </a:prstGeom>
          <a:noFill/>
        </p:spPr>
        <p:txBody>
          <a:bodyPr wrap="square">
            <a:spAutoFit/>
          </a:bodyPr>
          <a:lstStyle/>
          <a:p>
            <a:pPr>
              <a:defRPr sz="1700" b="1">
                <a:solidFill>
                  <a:srgbClr val="213C57"/>
                </a:solidFill>
                <a:latin typeface="Aptos"/>
              </a:defRPr>
            </a:pPr>
            <a:r>
              <a:t>React portal</a:t>
            </a:r>
          </a:p>
        </p:txBody>
      </p:sp>
      <p:sp>
        <p:nvSpPr>
          <p:cNvPr id="8" name="TextBox 7"/>
          <p:cNvSpPr txBox="1"/>
          <p:nvPr/>
        </p:nvSpPr>
        <p:spPr>
          <a:xfrm>
            <a:off x="612648" y="2423160"/>
            <a:ext cx="2157984" cy="640080"/>
          </a:xfrm>
          <a:prstGeom prst="rect">
            <a:avLst/>
          </a:prstGeom>
          <a:noFill/>
        </p:spPr>
        <p:txBody>
          <a:bodyPr wrap="square">
            <a:spAutoFit/>
          </a:bodyPr>
          <a:lstStyle/>
          <a:p>
            <a:pPr>
              <a:defRPr sz="1300" b="0">
                <a:solidFill>
                  <a:srgbClr val="213C57"/>
                </a:solidFill>
                <a:latin typeface="Aptos"/>
              </a:defRPr>
            </a:pPr>
            <a:r>
              <a:t>Question + session ID</a:t>
            </a:r>
          </a:p>
        </p:txBody>
      </p:sp>
      <p:sp>
        <p:nvSpPr>
          <p:cNvPr id="9" name="Rectangle 8"/>
          <p:cNvSpPr/>
          <p:nvPr/>
        </p:nvSpPr>
        <p:spPr>
          <a:xfrm>
            <a:off x="3794760" y="1828800"/>
            <a:ext cx="2926080" cy="12801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04488" y="1938528"/>
            <a:ext cx="2706624" cy="457200"/>
          </a:xfrm>
          <a:prstGeom prst="rect">
            <a:avLst/>
          </a:prstGeom>
          <a:noFill/>
        </p:spPr>
        <p:txBody>
          <a:bodyPr wrap="square">
            <a:spAutoFit/>
          </a:bodyPr>
          <a:lstStyle/>
          <a:p>
            <a:pPr>
              <a:defRPr sz="1700" b="1">
                <a:solidFill>
                  <a:srgbClr val="213C57"/>
                </a:solidFill>
                <a:latin typeface="Aptos"/>
              </a:defRPr>
            </a:pPr>
            <a:r>
              <a:t>Application backend</a:t>
            </a:r>
          </a:p>
        </p:txBody>
      </p:sp>
      <p:sp>
        <p:nvSpPr>
          <p:cNvPr id="11" name="TextBox 10"/>
          <p:cNvSpPr txBox="1"/>
          <p:nvPr/>
        </p:nvSpPr>
        <p:spPr>
          <a:xfrm>
            <a:off x="3904488" y="2423160"/>
            <a:ext cx="2706624" cy="640080"/>
          </a:xfrm>
          <a:prstGeom prst="rect">
            <a:avLst/>
          </a:prstGeom>
          <a:noFill/>
        </p:spPr>
        <p:txBody>
          <a:bodyPr wrap="square">
            <a:spAutoFit/>
          </a:bodyPr>
          <a:lstStyle/>
          <a:p>
            <a:pPr>
              <a:defRPr sz="1300" b="0">
                <a:solidFill>
                  <a:srgbClr val="213C57"/>
                </a:solidFill>
                <a:latin typeface="Aptos"/>
              </a:defRPr>
            </a:pPr>
            <a:r>
              <a:t>Identity • history • orchestration</a:t>
            </a:r>
          </a:p>
        </p:txBody>
      </p:sp>
      <p:sp>
        <p:nvSpPr>
          <p:cNvPr id="12" name="Rectangle 11"/>
          <p:cNvSpPr/>
          <p:nvPr/>
        </p:nvSpPr>
        <p:spPr>
          <a:xfrm>
            <a:off x="7772400" y="1828800"/>
            <a:ext cx="2560320" cy="12801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7" y="1938528"/>
            <a:ext cx="2340863" cy="457200"/>
          </a:xfrm>
          <a:prstGeom prst="rect">
            <a:avLst/>
          </a:prstGeom>
          <a:noFill/>
        </p:spPr>
        <p:txBody>
          <a:bodyPr wrap="square">
            <a:spAutoFit/>
          </a:bodyPr>
          <a:lstStyle/>
          <a:p>
            <a:pPr>
              <a:defRPr sz="1700" b="1">
                <a:solidFill>
                  <a:srgbClr val="213C57"/>
                </a:solidFill>
                <a:latin typeface="Aptos"/>
              </a:defRPr>
            </a:pPr>
            <a:r>
              <a:t>Internal AI gateway</a:t>
            </a:r>
          </a:p>
        </p:txBody>
      </p:sp>
      <p:sp>
        <p:nvSpPr>
          <p:cNvPr id="14" name="TextBox 13"/>
          <p:cNvSpPr txBox="1"/>
          <p:nvPr/>
        </p:nvSpPr>
        <p:spPr>
          <a:xfrm>
            <a:off x="7882127" y="2423160"/>
            <a:ext cx="2340863" cy="640080"/>
          </a:xfrm>
          <a:prstGeom prst="rect">
            <a:avLst/>
          </a:prstGeom>
          <a:noFill/>
        </p:spPr>
        <p:txBody>
          <a:bodyPr wrap="square">
            <a:spAutoFit/>
          </a:bodyPr>
          <a:lstStyle/>
          <a:p>
            <a:pPr>
              <a:defRPr sz="1300" b="0">
                <a:solidFill>
                  <a:srgbClr val="213C57"/>
                </a:solidFill>
                <a:latin typeface="Aptos"/>
              </a:defRPr>
            </a:pPr>
            <a:r>
              <a:t>Approved model routing</a:t>
            </a:r>
          </a:p>
        </p:txBody>
      </p:sp>
      <p:sp>
        <p:nvSpPr>
          <p:cNvPr id="15" name="Rectangle 14"/>
          <p:cNvSpPr/>
          <p:nvPr/>
        </p:nvSpPr>
        <p:spPr>
          <a:xfrm>
            <a:off x="11384280" y="1828800"/>
            <a:ext cx="2743200" cy="12801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94007" y="1938528"/>
            <a:ext cx="2523744" cy="457200"/>
          </a:xfrm>
          <a:prstGeom prst="rect">
            <a:avLst/>
          </a:prstGeom>
          <a:noFill/>
        </p:spPr>
        <p:txBody>
          <a:bodyPr wrap="square">
            <a:spAutoFit/>
          </a:bodyPr>
          <a:lstStyle/>
          <a:p>
            <a:pPr>
              <a:defRPr sz="1700" b="1">
                <a:solidFill>
                  <a:srgbClr val="213C57"/>
                </a:solidFill>
                <a:latin typeface="Aptos"/>
              </a:defRPr>
            </a:pPr>
            <a:r>
              <a:t>vLLM + Llama</a:t>
            </a:r>
          </a:p>
        </p:txBody>
      </p:sp>
      <p:sp>
        <p:nvSpPr>
          <p:cNvPr id="17" name="TextBox 16"/>
          <p:cNvSpPr txBox="1"/>
          <p:nvPr/>
        </p:nvSpPr>
        <p:spPr>
          <a:xfrm>
            <a:off x="11494007" y="2423160"/>
            <a:ext cx="2523744" cy="640080"/>
          </a:xfrm>
          <a:prstGeom prst="rect">
            <a:avLst/>
          </a:prstGeom>
          <a:noFill/>
        </p:spPr>
        <p:txBody>
          <a:bodyPr wrap="square">
            <a:spAutoFit/>
          </a:bodyPr>
          <a:lstStyle/>
          <a:p>
            <a:pPr>
              <a:defRPr sz="1300" b="0">
                <a:solidFill>
                  <a:srgbClr val="213C57"/>
                </a:solidFill>
                <a:latin typeface="Aptos"/>
              </a:defRPr>
            </a:pPr>
            <a:r>
              <a:t>Generate answer from evidence</a:t>
            </a:r>
          </a:p>
        </p:txBody>
      </p:sp>
      <p:cxnSp>
        <p:nvCxnSpPr>
          <p:cNvPr id="18" name="Connector 17"/>
          <p:cNvCxnSpPr/>
          <p:nvPr/>
        </p:nvCxnSpPr>
        <p:spPr>
          <a:xfrm>
            <a:off x="2880360" y="2240280"/>
            <a:ext cx="91440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898648" y="1691640"/>
            <a:ext cx="2468880" cy="457200"/>
          </a:xfrm>
          <a:prstGeom prst="rect">
            <a:avLst/>
          </a:prstGeom>
          <a:noFill/>
        </p:spPr>
        <p:txBody>
          <a:bodyPr wrap="square">
            <a:spAutoFit/>
          </a:bodyPr>
          <a:lstStyle/>
          <a:p>
            <a:pPr>
              <a:defRPr sz="1100" b="0">
                <a:solidFill>
                  <a:srgbClr val="213C57"/>
                </a:solidFill>
                <a:latin typeface="Aptos"/>
              </a:defRPr>
            </a:pPr>
            <a:r>
              <a:t>1  Question</a:t>
            </a:r>
          </a:p>
        </p:txBody>
      </p:sp>
      <p:cxnSp>
        <p:nvCxnSpPr>
          <p:cNvPr id="20" name="Connector 19"/>
          <p:cNvCxnSpPr/>
          <p:nvPr/>
        </p:nvCxnSpPr>
        <p:spPr>
          <a:xfrm>
            <a:off x="6720840" y="2240280"/>
            <a:ext cx="10515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20840" y="1508760"/>
            <a:ext cx="2468880" cy="457200"/>
          </a:xfrm>
          <a:prstGeom prst="rect">
            <a:avLst/>
          </a:prstGeom>
          <a:noFill/>
        </p:spPr>
        <p:txBody>
          <a:bodyPr wrap="square">
            <a:spAutoFit/>
          </a:bodyPr>
          <a:lstStyle/>
          <a:p>
            <a:pPr>
              <a:defRPr sz="1100" b="0">
                <a:solidFill>
                  <a:srgbClr val="213C57"/>
                </a:solidFill>
                <a:latin typeface="Aptos"/>
              </a:defRPr>
            </a:pPr>
            <a:r>
              <a:t>4  Prompt + evidence</a:t>
            </a:r>
          </a:p>
        </p:txBody>
      </p:sp>
      <p:cxnSp>
        <p:nvCxnSpPr>
          <p:cNvPr id="22" name="Connector 21"/>
          <p:cNvCxnSpPr/>
          <p:nvPr/>
        </p:nvCxnSpPr>
        <p:spPr>
          <a:xfrm>
            <a:off x="10332720" y="2240280"/>
            <a:ext cx="10515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378440" y="1691640"/>
            <a:ext cx="2468880" cy="457200"/>
          </a:xfrm>
          <a:prstGeom prst="rect">
            <a:avLst/>
          </a:prstGeom>
          <a:noFill/>
        </p:spPr>
        <p:txBody>
          <a:bodyPr wrap="square">
            <a:spAutoFit/>
          </a:bodyPr>
          <a:lstStyle/>
          <a:p>
            <a:pPr>
              <a:defRPr sz="1100" b="0">
                <a:solidFill>
                  <a:srgbClr val="213C57"/>
                </a:solidFill>
                <a:latin typeface="Aptos"/>
              </a:defRPr>
            </a:pPr>
            <a:r>
              <a:t>5  Model call</a:t>
            </a:r>
          </a:p>
        </p:txBody>
      </p:sp>
      <p:cxnSp>
        <p:nvCxnSpPr>
          <p:cNvPr id="24" name="Connector 23"/>
          <p:cNvCxnSpPr/>
          <p:nvPr/>
        </p:nvCxnSpPr>
        <p:spPr>
          <a:xfrm flipH="1">
            <a:off x="10332720" y="2788920"/>
            <a:ext cx="10515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378440" y="3154680"/>
            <a:ext cx="2468880" cy="457200"/>
          </a:xfrm>
          <a:prstGeom prst="rect">
            <a:avLst/>
          </a:prstGeom>
          <a:noFill/>
        </p:spPr>
        <p:txBody>
          <a:bodyPr wrap="square">
            <a:spAutoFit/>
          </a:bodyPr>
          <a:lstStyle/>
          <a:p>
            <a:pPr>
              <a:defRPr sz="1100" b="0">
                <a:solidFill>
                  <a:srgbClr val="213C57"/>
                </a:solidFill>
                <a:latin typeface="Aptos"/>
              </a:defRPr>
            </a:pPr>
            <a:r>
              <a:t>6  JSON</a:t>
            </a:r>
          </a:p>
        </p:txBody>
      </p:sp>
      <p:cxnSp>
        <p:nvCxnSpPr>
          <p:cNvPr id="26" name="Connector 25"/>
          <p:cNvCxnSpPr/>
          <p:nvPr/>
        </p:nvCxnSpPr>
        <p:spPr>
          <a:xfrm flipH="1">
            <a:off x="6720840" y="2788920"/>
            <a:ext cx="10515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766560" y="3154680"/>
            <a:ext cx="2468880" cy="457200"/>
          </a:xfrm>
          <a:prstGeom prst="rect">
            <a:avLst/>
          </a:prstGeom>
          <a:noFill/>
        </p:spPr>
        <p:txBody>
          <a:bodyPr wrap="square">
            <a:spAutoFit/>
          </a:bodyPr>
          <a:lstStyle/>
          <a:p>
            <a:pPr>
              <a:defRPr sz="1100" b="0">
                <a:solidFill>
                  <a:srgbClr val="213C57"/>
                </a:solidFill>
                <a:latin typeface="Aptos"/>
              </a:defRPr>
            </a:pPr>
            <a:r>
              <a:t>7  JSON</a:t>
            </a:r>
          </a:p>
        </p:txBody>
      </p:sp>
      <p:cxnSp>
        <p:nvCxnSpPr>
          <p:cNvPr id="28" name="Connector 27"/>
          <p:cNvCxnSpPr/>
          <p:nvPr/>
        </p:nvCxnSpPr>
        <p:spPr>
          <a:xfrm flipH="1">
            <a:off x="2880360" y="2788920"/>
            <a:ext cx="91440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743200" y="3154680"/>
            <a:ext cx="2468880" cy="457200"/>
          </a:xfrm>
          <a:prstGeom prst="rect">
            <a:avLst/>
          </a:prstGeom>
          <a:noFill/>
        </p:spPr>
        <p:txBody>
          <a:bodyPr wrap="square">
            <a:spAutoFit/>
          </a:bodyPr>
          <a:lstStyle/>
          <a:p>
            <a:pPr>
              <a:defRPr sz="1100" b="0">
                <a:solidFill>
                  <a:srgbClr val="213C57"/>
                </a:solidFill>
                <a:latin typeface="Aptos"/>
              </a:defRPr>
            </a:pPr>
            <a:r>
              <a:t>9  Cited answer</a:t>
            </a:r>
          </a:p>
        </p:txBody>
      </p:sp>
      <p:sp>
        <p:nvSpPr>
          <p:cNvPr id="30" name="Rectangle 29"/>
          <p:cNvSpPr/>
          <p:nvPr/>
        </p:nvSpPr>
        <p:spPr>
          <a:xfrm>
            <a:off x="3794760" y="4389120"/>
            <a:ext cx="2926080" cy="137160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04488" y="4498848"/>
            <a:ext cx="2706624" cy="457200"/>
          </a:xfrm>
          <a:prstGeom prst="rect">
            <a:avLst/>
          </a:prstGeom>
          <a:noFill/>
        </p:spPr>
        <p:txBody>
          <a:bodyPr wrap="square">
            <a:spAutoFit/>
          </a:bodyPr>
          <a:lstStyle/>
          <a:p>
            <a:pPr>
              <a:defRPr sz="1700" b="1">
                <a:solidFill>
                  <a:srgbClr val="213C57"/>
                </a:solidFill>
                <a:latin typeface="Aptos"/>
              </a:defRPr>
            </a:pPr>
            <a:r>
              <a:t>PostgreSQL + pgvector</a:t>
            </a:r>
          </a:p>
        </p:txBody>
      </p:sp>
      <p:sp>
        <p:nvSpPr>
          <p:cNvPr id="32" name="TextBox 31"/>
          <p:cNvSpPr txBox="1"/>
          <p:nvPr/>
        </p:nvSpPr>
        <p:spPr>
          <a:xfrm>
            <a:off x="3904488" y="4983480"/>
            <a:ext cx="2706624" cy="731520"/>
          </a:xfrm>
          <a:prstGeom prst="rect">
            <a:avLst/>
          </a:prstGeom>
          <a:noFill/>
        </p:spPr>
        <p:txBody>
          <a:bodyPr wrap="square">
            <a:spAutoFit/>
          </a:bodyPr>
          <a:lstStyle/>
          <a:p>
            <a:pPr>
              <a:defRPr sz="1300" b="0">
                <a:solidFill>
                  <a:srgbClr val="213C57"/>
                </a:solidFill>
                <a:latin typeface="Aptos"/>
              </a:defRPr>
            </a:pPr>
            <a:r>
              <a:t>Records • passages • vectors</a:t>
            </a:r>
          </a:p>
          <a:p>
            <a:pPr>
              <a:defRPr sz="1300" b="0">
                <a:solidFill>
                  <a:srgbClr val="213C57"/>
                </a:solidFill>
                <a:latin typeface="Aptos"/>
              </a:defRPr>
            </a:pPr>
            <a:r>
              <a:t>Verified source URLs</a:t>
            </a:r>
          </a:p>
        </p:txBody>
      </p:sp>
      <p:cxnSp>
        <p:nvCxnSpPr>
          <p:cNvPr id="33" name="Connector 32"/>
          <p:cNvCxnSpPr/>
          <p:nvPr/>
        </p:nvCxnSpPr>
        <p:spPr>
          <a:xfrm>
            <a:off x="4572000" y="3108960"/>
            <a:ext cx="0" cy="128016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566160" y="3657600"/>
            <a:ext cx="2468880" cy="457200"/>
          </a:xfrm>
          <a:prstGeom prst="rect">
            <a:avLst/>
          </a:prstGeom>
          <a:noFill/>
        </p:spPr>
        <p:txBody>
          <a:bodyPr wrap="square">
            <a:spAutoFit/>
          </a:bodyPr>
          <a:lstStyle/>
          <a:p>
            <a:pPr>
              <a:defRPr sz="1100" b="0">
                <a:solidFill>
                  <a:srgbClr val="213C57"/>
                </a:solidFill>
                <a:latin typeface="Aptos"/>
              </a:defRPr>
            </a:pPr>
            <a:r>
              <a:t>3a Search</a:t>
            </a:r>
          </a:p>
        </p:txBody>
      </p:sp>
      <p:cxnSp>
        <p:nvCxnSpPr>
          <p:cNvPr id="35" name="Connector 34"/>
          <p:cNvCxnSpPr/>
          <p:nvPr/>
        </p:nvCxnSpPr>
        <p:spPr>
          <a:xfrm flipV="1">
            <a:off x="5989320" y="3108960"/>
            <a:ext cx="0" cy="128016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080760" y="3657600"/>
            <a:ext cx="2468880" cy="457200"/>
          </a:xfrm>
          <a:prstGeom prst="rect">
            <a:avLst/>
          </a:prstGeom>
          <a:noFill/>
        </p:spPr>
        <p:txBody>
          <a:bodyPr wrap="square">
            <a:spAutoFit/>
          </a:bodyPr>
          <a:lstStyle/>
          <a:p>
            <a:pPr>
              <a:defRPr sz="1100" b="0">
                <a:solidFill>
                  <a:srgbClr val="213C57"/>
                </a:solidFill>
                <a:latin typeface="Aptos"/>
              </a:defRPr>
            </a:pPr>
            <a:r>
              <a:t>3b Evidence</a:t>
            </a:r>
          </a:p>
        </p:txBody>
      </p:sp>
      <p:sp>
        <p:nvSpPr>
          <p:cNvPr id="37" name="Rectangle 36"/>
          <p:cNvSpPr/>
          <p:nvPr/>
        </p:nvSpPr>
        <p:spPr>
          <a:xfrm>
            <a:off x="7772400" y="4389120"/>
            <a:ext cx="2560320" cy="137160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82127" y="4498848"/>
            <a:ext cx="2340863" cy="457200"/>
          </a:xfrm>
          <a:prstGeom prst="rect">
            <a:avLst/>
          </a:prstGeom>
          <a:noFill/>
        </p:spPr>
        <p:txBody>
          <a:bodyPr wrap="square">
            <a:spAutoFit/>
          </a:bodyPr>
          <a:lstStyle/>
          <a:p>
            <a:pPr>
              <a:defRPr sz="1700" b="1">
                <a:solidFill>
                  <a:srgbClr val="213C57"/>
                </a:solidFill>
                <a:latin typeface="Aptos"/>
              </a:defRPr>
            </a:pPr>
            <a:r>
              <a:t>Embedding endpoint</a:t>
            </a:r>
          </a:p>
        </p:txBody>
      </p:sp>
      <p:sp>
        <p:nvSpPr>
          <p:cNvPr id="39" name="TextBox 38"/>
          <p:cNvSpPr txBox="1"/>
          <p:nvPr/>
        </p:nvSpPr>
        <p:spPr>
          <a:xfrm>
            <a:off x="7882127" y="4983480"/>
            <a:ext cx="2340863" cy="731520"/>
          </a:xfrm>
          <a:prstGeom prst="rect">
            <a:avLst/>
          </a:prstGeom>
          <a:noFill/>
        </p:spPr>
        <p:txBody>
          <a:bodyPr wrap="square">
            <a:spAutoFit/>
          </a:bodyPr>
          <a:lstStyle/>
          <a:p>
            <a:pPr>
              <a:defRPr sz="1300" b="0">
                <a:solidFill>
                  <a:srgbClr val="213C57"/>
                </a:solidFill>
                <a:latin typeface="Aptos"/>
              </a:defRPr>
            </a:pPr>
            <a:r>
              <a:t>Internal embedding model</a:t>
            </a:r>
          </a:p>
        </p:txBody>
      </p:sp>
      <p:cxnSp>
        <p:nvCxnSpPr>
          <p:cNvPr id="40" name="Connector 39"/>
          <p:cNvCxnSpPr/>
          <p:nvPr/>
        </p:nvCxnSpPr>
        <p:spPr>
          <a:xfrm>
            <a:off x="8458200" y="3108960"/>
            <a:ext cx="0" cy="128016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315200" y="3657600"/>
            <a:ext cx="2468880" cy="457200"/>
          </a:xfrm>
          <a:prstGeom prst="rect">
            <a:avLst/>
          </a:prstGeom>
          <a:noFill/>
        </p:spPr>
        <p:txBody>
          <a:bodyPr wrap="square">
            <a:spAutoFit/>
          </a:bodyPr>
          <a:lstStyle/>
          <a:p>
            <a:pPr>
              <a:defRPr sz="1100" b="0">
                <a:solidFill>
                  <a:srgbClr val="213C57"/>
                </a:solidFill>
                <a:latin typeface="Aptos"/>
              </a:defRPr>
            </a:pPr>
            <a:r>
              <a:t>2  Query text</a:t>
            </a:r>
          </a:p>
        </p:txBody>
      </p:sp>
      <p:cxnSp>
        <p:nvCxnSpPr>
          <p:cNvPr id="42" name="Connector 41"/>
          <p:cNvCxnSpPr/>
          <p:nvPr/>
        </p:nvCxnSpPr>
        <p:spPr>
          <a:xfrm flipV="1">
            <a:off x="9692640" y="3108960"/>
            <a:ext cx="0" cy="128016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784080" y="3657600"/>
            <a:ext cx="2468880" cy="457200"/>
          </a:xfrm>
          <a:prstGeom prst="rect">
            <a:avLst/>
          </a:prstGeom>
          <a:noFill/>
        </p:spPr>
        <p:txBody>
          <a:bodyPr wrap="square">
            <a:spAutoFit/>
          </a:bodyPr>
          <a:lstStyle/>
          <a:p>
            <a:pPr>
              <a:defRPr sz="1100" b="0">
                <a:solidFill>
                  <a:srgbClr val="213C57"/>
                </a:solidFill>
                <a:latin typeface="Aptos"/>
              </a:defRPr>
            </a:pPr>
            <a:r>
              <a:t>Vector</a:t>
            </a:r>
          </a:p>
        </p:txBody>
      </p:sp>
      <p:sp>
        <p:nvSpPr>
          <p:cNvPr id="44" name="Rectangle 43"/>
          <p:cNvSpPr/>
          <p:nvPr/>
        </p:nvSpPr>
        <p:spPr>
          <a:xfrm>
            <a:off x="502920" y="4389120"/>
            <a:ext cx="2377440" cy="137160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2648" y="4498848"/>
            <a:ext cx="2157984" cy="457200"/>
          </a:xfrm>
          <a:prstGeom prst="rect">
            <a:avLst/>
          </a:prstGeom>
          <a:noFill/>
        </p:spPr>
        <p:txBody>
          <a:bodyPr wrap="square">
            <a:spAutoFit/>
          </a:bodyPr>
          <a:lstStyle/>
          <a:p>
            <a:pPr>
              <a:defRPr sz="1700" b="1">
                <a:solidFill>
                  <a:srgbClr val="213C57"/>
                </a:solidFill>
                <a:latin typeface="Aptos"/>
              </a:defRPr>
            </a:pPr>
            <a:r>
              <a:t>Daily ingestion</a:t>
            </a:r>
          </a:p>
        </p:txBody>
      </p:sp>
      <p:sp>
        <p:nvSpPr>
          <p:cNvPr id="46" name="TextBox 45"/>
          <p:cNvSpPr txBox="1"/>
          <p:nvPr/>
        </p:nvSpPr>
        <p:spPr>
          <a:xfrm>
            <a:off x="612648" y="4983480"/>
            <a:ext cx="2157984" cy="731520"/>
          </a:xfrm>
          <a:prstGeom prst="rect">
            <a:avLst/>
          </a:prstGeom>
          <a:noFill/>
        </p:spPr>
        <p:txBody>
          <a:bodyPr wrap="square">
            <a:spAutoFit/>
          </a:bodyPr>
          <a:lstStyle/>
          <a:p>
            <a:pPr>
              <a:defRPr sz="1300" b="0">
                <a:solidFill>
                  <a:srgbClr val="213C57"/>
                </a:solidFill>
                <a:latin typeface="Aptos"/>
              </a:defRPr>
            </a:pPr>
            <a:r>
              <a:t>ServiceNow + ADO</a:t>
            </a:r>
          </a:p>
          <a:p>
            <a:pPr>
              <a:defRPr sz="1300" b="0">
                <a:solidFill>
                  <a:srgbClr val="213C57"/>
                </a:solidFill>
                <a:latin typeface="Aptos"/>
              </a:defRPr>
            </a:pPr>
            <a:r>
              <a:t>Read-only imports</a:t>
            </a:r>
          </a:p>
        </p:txBody>
      </p:sp>
      <p:cxnSp>
        <p:nvCxnSpPr>
          <p:cNvPr id="47" name="Connector 46"/>
          <p:cNvCxnSpPr/>
          <p:nvPr/>
        </p:nvCxnSpPr>
        <p:spPr>
          <a:xfrm>
            <a:off x="2880360" y="5074920"/>
            <a:ext cx="91440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898648" y="4572000"/>
            <a:ext cx="2468880" cy="457200"/>
          </a:xfrm>
          <a:prstGeom prst="rect">
            <a:avLst/>
          </a:prstGeom>
          <a:noFill/>
        </p:spPr>
        <p:txBody>
          <a:bodyPr wrap="square">
            <a:spAutoFit/>
          </a:bodyPr>
          <a:lstStyle/>
          <a:p>
            <a:pPr>
              <a:defRPr sz="1100" b="0">
                <a:solidFill>
                  <a:srgbClr val="213C57"/>
                </a:solidFill>
                <a:latin typeface="Aptos"/>
              </a:defRPr>
            </a:pPr>
            <a:r>
              <a:t>Upsert</a:t>
            </a:r>
          </a:p>
        </p:txBody>
      </p:sp>
      <p:sp>
        <p:nvSpPr>
          <p:cNvPr id="49" name="Rectangle 48"/>
          <p:cNvSpPr/>
          <p:nvPr/>
        </p:nvSpPr>
        <p:spPr>
          <a:xfrm>
            <a:off x="11384280" y="4389120"/>
            <a:ext cx="2743200" cy="137160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494007" y="4498848"/>
            <a:ext cx="2523744" cy="457200"/>
          </a:xfrm>
          <a:prstGeom prst="rect">
            <a:avLst/>
          </a:prstGeom>
          <a:noFill/>
        </p:spPr>
        <p:txBody>
          <a:bodyPr wrap="square">
            <a:spAutoFit/>
          </a:bodyPr>
          <a:lstStyle/>
          <a:p>
            <a:pPr>
              <a:defRPr sz="1700" b="1">
                <a:solidFill>
                  <a:srgbClr val="213C57"/>
                </a:solidFill>
                <a:latin typeface="Aptos"/>
              </a:defRPr>
            </a:pPr>
            <a:r>
              <a:t>Response validation</a:t>
            </a:r>
          </a:p>
        </p:txBody>
      </p:sp>
      <p:sp>
        <p:nvSpPr>
          <p:cNvPr id="51" name="TextBox 50"/>
          <p:cNvSpPr txBox="1"/>
          <p:nvPr/>
        </p:nvSpPr>
        <p:spPr>
          <a:xfrm>
            <a:off x="11494007" y="4983480"/>
            <a:ext cx="2523744" cy="731520"/>
          </a:xfrm>
          <a:prstGeom prst="rect">
            <a:avLst/>
          </a:prstGeom>
          <a:noFill/>
        </p:spPr>
        <p:txBody>
          <a:bodyPr wrap="square">
            <a:spAutoFit/>
          </a:bodyPr>
          <a:lstStyle/>
          <a:p>
            <a:pPr>
              <a:defRPr sz="1300" b="0">
                <a:solidFill>
                  <a:srgbClr val="213C57"/>
                </a:solidFill>
                <a:latin typeface="Aptos"/>
              </a:defRPr>
            </a:pPr>
            <a:r>
              <a:t>Backend checks schema + IDs</a:t>
            </a:r>
          </a:p>
          <a:p>
            <a:pPr>
              <a:defRPr sz="1300" b="0">
                <a:solidFill>
                  <a:srgbClr val="213C57"/>
                </a:solidFill>
                <a:latin typeface="Aptos"/>
              </a:defRPr>
            </a:pPr>
            <a:r>
              <a:t>Attaches original source links</a:t>
            </a:r>
          </a:p>
        </p:txBody>
      </p:sp>
      <p:sp>
        <p:nvSpPr>
          <p:cNvPr id="52" name="TextBox 51"/>
          <p:cNvSpPr txBox="1"/>
          <p:nvPr/>
        </p:nvSpPr>
        <p:spPr>
          <a:xfrm>
            <a:off x="640080" y="6400800"/>
            <a:ext cx="13441680" cy="868680"/>
          </a:xfrm>
          <a:prstGeom prst="rect">
            <a:avLst/>
          </a:prstGeom>
          <a:noFill/>
        </p:spPr>
        <p:txBody>
          <a:bodyPr wrap="square">
            <a:spAutoFit/>
          </a:bodyPr>
          <a:lstStyle/>
          <a:p>
            <a:pPr>
              <a:defRPr sz="1500" b="0">
                <a:solidFill>
                  <a:srgbClr val="213C57"/>
                </a:solidFill>
                <a:latin typeface="Aptos"/>
              </a:defRPr>
            </a:pPr>
            <a:r>
              <a:t>Execution order: 1 Question → 2 Embed via gateway → 3 Retrieve → 4–7 Generate JSON → 8 Backend validates → 9 Display.</a:t>
            </a:r>
          </a:p>
          <a:p>
            <a:pPr>
              <a:defRPr sz="1500" b="0">
                <a:solidFill>
                  <a:srgbClr val="213C57"/>
                </a:solidFill>
                <a:latin typeface="Aptos"/>
              </a:defRPr>
            </a:pPr>
            <a:r>
              <a:t>Embedding vectors return through the gateway to the backend. Validation is a backend responsibility, not another model call.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3716000" cy="594360"/>
          </a:xfrm>
          <a:prstGeom prst="rect">
            <a:avLst/>
          </a:prstGeom>
          <a:noFill/>
        </p:spPr>
        <p:txBody>
          <a:bodyPr wrap="square">
            <a:spAutoFit/>
          </a:bodyPr>
          <a:lstStyle/>
          <a:p>
            <a:pPr>
              <a:defRPr sz="2900" b="1">
                <a:solidFill>
                  <a:srgbClr val="213C57"/>
                </a:solidFill>
                <a:latin typeface="Aptos"/>
              </a:defRPr>
            </a:pPr>
            <a:r>
              <a:t>Query workflow — sequence and return paths</a:t>
            </a:r>
          </a:p>
        </p:txBody>
      </p:sp>
      <p:sp>
        <p:nvSpPr>
          <p:cNvPr id="3" name="TextBox 2"/>
          <p:cNvSpPr txBox="1"/>
          <p:nvPr/>
        </p:nvSpPr>
        <p:spPr>
          <a:xfrm>
            <a:off x="502920" y="960120"/>
            <a:ext cx="13716000" cy="457200"/>
          </a:xfrm>
          <a:prstGeom prst="rect">
            <a:avLst/>
          </a:prstGeom>
          <a:noFill/>
        </p:spPr>
        <p:txBody>
          <a:bodyPr wrap="square">
            <a:spAutoFit/>
          </a:bodyPr>
          <a:lstStyle/>
          <a:p>
            <a:pPr>
              <a:defRPr sz="1500" b="0">
                <a:solidFill>
                  <a:srgbClr val="61768A"/>
                </a:solidFill>
                <a:latin typeface="Aptos"/>
              </a:defRPr>
            </a:pPr>
            <a:r>
              <a:t>One user question; explicit request and response arrows between participating services.</a:t>
            </a:r>
          </a:p>
        </p:txBody>
      </p:sp>
      <p:sp>
        <p:nvSpPr>
          <p:cNvPr id="4" name="TextBox 3"/>
          <p:cNvSpPr txBox="1"/>
          <p:nvPr/>
        </p:nvSpPr>
        <p:spPr>
          <a:xfrm>
            <a:off x="502920" y="7863840"/>
            <a:ext cx="12801600" cy="228600"/>
          </a:xfrm>
          <a:prstGeom prst="rect">
            <a:avLst/>
          </a:prstGeom>
          <a:noFill/>
        </p:spPr>
        <p:txBody>
          <a:bodyPr wrap="square">
            <a:spAutoFit/>
          </a:bodyPr>
          <a:lstStyle/>
          <a:p>
            <a:pPr>
              <a:defRPr sz="1000" b="0">
                <a:solidFill>
                  <a:srgbClr val="61768A"/>
                </a:solidFill>
                <a:latin typeface="Aptos"/>
              </a:defRPr>
            </a:pPr>
            <a:r>
              <a:t>CONFIDENTIAL — INTERNAL DISCUSSION | Proposed architecture • All components editable</a:t>
            </a:r>
          </a:p>
        </p:txBody>
      </p:sp>
      <p:sp>
        <p:nvSpPr>
          <p:cNvPr id="5" name="TextBox 4"/>
          <p:cNvSpPr txBox="1"/>
          <p:nvPr/>
        </p:nvSpPr>
        <p:spPr>
          <a:xfrm>
            <a:off x="13533120" y="7863840"/>
            <a:ext cx="914400" cy="228600"/>
          </a:xfrm>
          <a:prstGeom prst="rect">
            <a:avLst/>
          </a:prstGeom>
          <a:noFill/>
        </p:spPr>
        <p:txBody>
          <a:bodyPr wrap="square">
            <a:spAutoFit/>
          </a:bodyPr>
          <a:lstStyle/>
          <a:p>
            <a:pPr>
              <a:defRPr sz="1000" b="0">
                <a:solidFill>
                  <a:srgbClr val="213C57"/>
                </a:solidFill>
                <a:latin typeface="Aptos"/>
              </a:defRPr>
            </a:pPr>
            <a:r>
              <a:t>2</a:t>
            </a:r>
          </a:p>
        </p:txBody>
      </p:sp>
      <p:sp>
        <p:nvSpPr>
          <p:cNvPr id="6" name="Rectangle 5"/>
          <p:cNvSpPr/>
          <p:nvPr/>
        </p:nvSpPr>
        <p:spPr>
          <a:xfrm>
            <a:off x="457200" y="1645920"/>
            <a:ext cx="2148840" cy="64008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55648"/>
            <a:ext cx="1929384" cy="457200"/>
          </a:xfrm>
          <a:prstGeom prst="rect">
            <a:avLst/>
          </a:prstGeom>
          <a:noFill/>
        </p:spPr>
        <p:txBody>
          <a:bodyPr wrap="square">
            <a:spAutoFit/>
          </a:bodyPr>
          <a:lstStyle/>
          <a:p>
            <a:pPr>
              <a:defRPr sz="1700" b="1">
                <a:solidFill>
                  <a:srgbClr val="213C57"/>
                </a:solidFill>
                <a:latin typeface="Aptos"/>
              </a:defRPr>
            </a:pPr>
            <a:r>
              <a:t>React</a:t>
            </a:r>
          </a:p>
        </p:txBody>
      </p:sp>
      <p:cxnSp>
        <p:nvCxnSpPr>
          <p:cNvPr id="8" name="Connector 7"/>
          <p:cNvCxnSpPr/>
          <p:nvPr/>
        </p:nvCxnSpPr>
        <p:spPr>
          <a:xfrm>
            <a:off x="1531620" y="2377440"/>
            <a:ext cx="0" cy="484632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108960" y="1645920"/>
            <a:ext cx="2148840" cy="64008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18688" y="1755648"/>
            <a:ext cx="1929384" cy="457200"/>
          </a:xfrm>
          <a:prstGeom prst="rect">
            <a:avLst/>
          </a:prstGeom>
          <a:noFill/>
        </p:spPr>
        <p:txBody>
          <a:bodyPr wrap="square">
            <a:spAutoFit/>
          </a:bodyPr>
          <a:lstStyle/>
          <a:p>
            <a:pPr>
              <a:defRPr sz="1700" b="1">
                <a:solidFill>
                  <a:srgbClr val="213C57"/>
                </a:solidFill>
                <a:latin typeface="Aptos"/>
              </a:defRPr>
            </a:pPr>
            <a:r>
              <a:t>Backend</a:t>
            </a:r>
          </a:p>
        </p:txBody>
      </p:sp>
      <p:cxnSp>
        <p:nvCxnSpPr>
          <p:cNvPr id="11" name="Connector 10"/>
          <p:cNvCxnSpPr/>
          <p:nvPr/>
        </p:nvCxnSpPr>
        <p:spPr>
          <a:xfrm>
            <a:off x="4183380" y="2377440"/>
            <a:ext cx="0" cy="484632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760720" y="1645920"/>
            <a:ext cx="2148840" cy="64008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70448" y="1755648"/>
            <a:ext cx="1929384" cy="457200"/>
          </a:xfrm>
          <a:prstGeom prst="rect">
            <a:avLst/>
          </a:prstGeom>
          <a:noFill/>
        </p:spPr>
        <p:txBody>
          <a:bodyPr wrap="square">
            <a:spAutoFit/>
          </a:bodyPr>
          <a:lstStyle/>
          <a:p>
            <a:pPr>
              <a:defRPr sz="1700" b="1">
                <a:solidFill>
                  <a:srgbClr val="213C57"/>
                </a:solidFill>
                <a:latin typeface="Aptos"/>
              </a:defRPr>
            </a:pPr>
            <a:r>
              <a:t>AI gateway</a:t>
            </a:r>
          </a:p>
        </p:txBody>
      </p:sp>
      <p:cxnSp>
        <p:nvCxnSpPr>
          <p:cNvPr id="14" name="Connector 13"/>
          <p:cNvCxnSpPr/>
          <p:nvPr/>
        </p:nvCxnSpPr>
        <p:spPr>
          <a:xfrm>
            <a:off x="6835140" y="2377440"/>
            <a:ext cx="0" cy="484632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8412480" y="1645920"/>
            <a:ext cx="2148840" cy="64008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22207" y="1755648"/>
            <a:ext cx="1929384" cy="457200"/>
          </a:xfrm>
          <a:prstGeom prst="rect">
            <a:avLst/>
          </a:prstGeom>
          <a:noFill/>
        </p:spPr>
        <p:txBody>
          <a:bodyPr wrap="square">
            <a:spAutoFit/>
          </a:bodyPr>
          <a:lstStyle/>
          <a:p>
            <a:pPr>
              <a:defRPr sz="1700" b="1">
                <a:solidFill>
                  <a:srgbClr val="213C57"/>
                </a:solidFill>
                <a:latin typeface="Aptos"/>
              </a:defRPr>
            </a:pPr>
            <a:r>
              <a:t>Embedding model</a:t>
            </a:r>
          </a:p>
        </p:txBody>
      </p:sp>
      <p:cxnSp>
        <p:nvCxnSpPr>
          <p:cNvPr id="17" name="Connector 16"/>
          <p:cNvCxnSpPr/>
          <p:nvPr/>
        </p:nvCxnSpPr>
        <p:spPr>
          <a:xfrm>
            <a:off x="9486900" y="2377440"/>
            <a:ext cx="0" cy="484632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1064240" y="1645920"/>
            <a:ext cx="2148840" cy="64008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173967" y="1755648"/>
            <a:ext cx="1929384" cy="457200"/>
          </a:xfrm>
          <a:prstGeom prst="rect">
            <a:avLst/>
          </a:prstGeom>
          <a:noFill/>
        </p:spPr>
        <p:txBody>
          <a:bodyPr wrap="square">
            <a:spAutoFit/>
          </a:bodyPr>
          <a:lstStyle/>
          <a:p>
            <a:pPr>
              <a:defRPr sz="1700" b="1">
                <a:solidFill>
                  <a:srgbClr val="213C57"/>
                </a:solidFill>
                <a:latin typeface="Aptos"/>
              </a:defRPr>
            </a:pPr>
            <a:r>
              <a:t>PostgreSQL</a:t>
            </a:r>
          </a:p>
        </p:txBody>
      </p:sp>
      <p:cxnSp>
        <p:nvCxnSpPr>
          <p:cNvPr id="20" name="Connector 19"/>
          <p:cNvCxnSpPr/>
          <p:nvPr/>
        </p:nvCxnSpPr>
        <p:spPr>
          <a:xfrm>
            <a:off x="12138660" y="2377440"/>
            <a:ext cx="0" cy="484632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531620" y="2697480"/>
            <a:ext cx="2651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691640" y="2404872"/>
            <a:ext cx="2468880" cy="457200"/>
          </a:xfrm>
          <a:prstGeom prst="rect">
            <a:avLst/>
          </a:prstGeom>
          <a:noFill/>
        </p:spPr>
        <p:txBody>
          <a:bodyPr wrap="square">
            <a:spAutoFit/>
          </a:bodyPr>
          <a:lstStyle/>
          <a:p>
            <a:pPr>
              <a:defRPr sz="1100" b="0">
                <a:solidFill>
                  <a:srgbClr val="213C57"/>
                </a:solidFill>
                <a:latin typeface="Aptos"/>
              </a:defRPr>
            </a:pPr>
            <a:r>
              <a:t>Question + conversation</a:t>
            </a:r>
          </a:p>
        </p:txBody>
      </p:sp>
      <p:cxnSp>
        <p:nvCxnSpPr>
          <p:cNvPr id="23" name="Connector 22"/>
          <p:cNvCxnSpPr/>
          <p:nvPr/>
        </p:nvCxnSpPr>
        <p:spPr>
          <a:xfrm>
            <a:off x="4183380" y="3291840"/>
            <a:ext cx="2651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43400" y="2999232"/>
            <a:ext cx="2468880" cy="457200"/>
          </a:xfrm>
          <a:prstGeom prst="rect">
            <a:avLst/>
          </a:prstGeom>
          <a:noFill/>
        </p:spPr>
        <p:txBody>
          <a:bodyPr wrap="square">
            <a:spAutoFit/>
          </a:bodyPr>
          <a:lstStyle/>
          <a:p>
            <a:pPr>
              <a:defRPr sz="1100" b="0">
                <a:solidFill>
                  <a:srgbClr val="213C57"/>
                </a:solidFill>
                <a:latin typeface="Aptos"/>
              </a:defRPr>
            </a:pPr>
            <a:r>
              <a:t>Embed question</a:t>
            </a:r>
          </a:p>
        </p:txBody>
      </p:sp>
      <p:cxnSp>
        <p:nvCxnSpPr>
          <p:cNvPr id="25" name="Connector 24"/>
          <p:cNvCxnSpPr/>
          <p:nvPr/>
        </p:nvCxnSpPr>
        <p:spPr>
          <a:xfrm>
            <a:off x="6835140" y="3840480"/>
            <a:ext cx="2651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995160" y="3547872"/>
            <a:ext cx="2468880" cy="457200"/>
          </a:xfrm>
          <a:prstGeom prst="rect">
            <a:avLst/>
          </a:prstGeom>
          <a:noFill/>
        </p:spPr>
        <p:txBody>
          <a:bodyPr wrap="square">
            <a:spAutoFit/>
          </a:bodyPr>
          <a:lstStyle/>
          <a:p>
            <a:pPr>
              <a:defRPr sz="1100" b="0">
                <a:solidFill>
                  <a:srgbClr val="213C57"/>
                </a:solidFill>
                <a:latin typeface="Aptos"/>
              </a:defRPr>
            </a:pPr>
            <a:r>
              <a:t>Text</a:t>
            </a:r>
          </a:p>
        </p:txBody>
      </p:sp>
      <p:cxnSp>
        <p:nvCxnSpPr>
          <p:cNvPr id="27" name="Connector 26"/>
          <p:cNvCxnSpPr/>
          <p:nvPr/>
        </p:nvCxnSpPr>
        <p:spPr>
          <a:xfrm flipH="1">
            <a:off x="6835140" y="4389120"/>
            <a:ext cx="2651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995160" y="4096511"/>
            <a:ext cx="2468880" cy="457200"/>
          </a:xfrm>
          <a:prstGeom prst="rect">
            <a:avLst/>
          </a:prstGeom>
          <a:noFill/>
        </p:spPr>
        <p:txBody>
          <a:bodyPr wrap="square">
            <a:spAutoFit/>
          </a:bodyPr>
          <a:lstStyle/>
          <a:p>
            <a:pPr>
              <a:defRPr sz="1100" b="0">
                <a:solidFill>
                  <a:srgbClr val="213C57"/>
                </a:solidFill>
                <a:latin typeface="Aptos"/>
              </a:defRPr>
            </a:pPr>
            <a:r>
              <a:t>Query vector</a:t>
            </a:r>
          </a:p>
        </p:txBody>
      </p:sp>
      <p:cxnSp>
        <p:nvCxnSpPr>
          <p:cNvPr id="29" name="Connector 28"/>
          <p:cNvCxnSpPr/>
          <p:nvPr/>
        </p:nvCxnSpPr>
        <p:spPr>
          <a:xfrm flipH="1">
            <a:off x="4183380" y="4937760"/>
            <a:ext cx="2651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343400" y="4645152"/>
            <a:ext cx="2468880" cy="457200"/>
          </a:xfrm>
          <a:prstGeom prst="rect">
            <a:avLst/>
          </a:prstGeom>
          <a:noFill/>
        </p:spPr>
        <p:txBody>
          <a:bodyPr wrap="square">
            <a:spAutoFit/>
          </a:bodyPr>
          <a:lstStyle/>
          <a:p>
            <a:pPr>
              <a:defRPr sz="1100" b="0">
                <a:solidFill>
                  <a:srgbClr val="213C57"/>
                </a:solidFill>
                <a:latin typeface="Aptos"/>
              </a:defRPr>
            </a:pPr>
            <a:r>
              <a:t>Query vector</a:t>
            </a:r>
          </a:p>
        </p:txBody>
      </p:sp>
      <p:cxnSp>
        <p:nvCxnSpPr>
          <p:cNvPr id="31" name="Connector 30"/>
          <p:cNvCxnSpPr/>
          <p:nvPr/>
        </p:nvCxnSpPr>
        <p:spPr>
          <a:xfrm>
            <a:off x="4183380" y="5486400"/>
            <a:ext cx="795528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343400" y="5193792"/>
            <a:ext cx="2468880" cy="457200"/>
          </a:xfrm>
          <a:prstGeom prst="rect">
            <a:avLst/>
          </a:prstGeom>
          <a:noFill/>
        </p:spPr>
        <p:txBody>
          <a:bodyPr wrap="square">
            <a:spAutoFit/>
          </a:bodyPr>
          <a:lstStyle/>
          <a:p>
            <a:pPr>
              <a:defRPr sz="1100" b="0">
                <a:solidFill>
                  <a:srgbClr val="213C57"/>
                </a:solidFill>
                <a:latin typeface="Aptos"/>
              </a:defRPr>
            </a:pPr>
            <a:r>
              <a:t>Access-filtered hybrid search</a:t>
            </a:r>
          </a:p>
        </p:txBody>
      </p:sp>
      <p:cxnSp>
        <p:nvCxnSpPr>
          <p:cNvPr id="33" name="Connector 32"/>
          <p:cNvCxnSpPr/>
          <p:nvPr/>
        </p:nvCxnSpPr>
        <p:spPr>
          <a:xfrm flipH="1">
            <a:off x="4183380" y="6126480"/>
            <a:ext cx="795528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343400" y="5833872"/>
            <a:ext cx="2468880" cy="457200"/>
          </a:xfrm>
          <a:prstGeom prst="rect">
            <a:avLst/>
          </a:prstGeom>
          <a:noFill/>
        </p:spPr>
        <p:txBody>
          <a:bodyPr wrap="square">
            <a:spAutoFit/>
          </a:bodyPr>
          <a:lstStyle/>
          <a:p>
            <a:pPr>
              <a:defRPr sz="1100" b="0">
                <a:solidFill>
                  <a:srgbClr val="213C57"/>
                </a:solidFill>
                <a:latin typeface="Aptos"/>
              </a:defRPr>
            </a:pPr>
            <a:r>
              <a:t>Evidence + metadata + URLs</a:t>
            </a:r>
          </a:p>
        </p:txBody>
      </p:sp>
      <p:cxnSp>
        <p:nvCxnSpPr>
          <p:cNvPr id="35" name="Connector 34"/>
          <p:cNvCxnSpPr/>
          <p:nvPr/>
        </p:nvCxnSpPr>
        <p:spPr>
          <a:xfrm>
            <a:off x="4183380" y="6766560"/>
            <a:ext cx="2651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343400" y="6473952"/>
            <a:ext cx="2468880" cy="457200"/>
          </a:xfrm>
          <a:prstGeom prst="rect">
            <a:avLst/>
          </a:prstGeom>
          <a:noFill/>
        </p:spPr>
        <p:txBody>
          <a:bodyPr wrap="square">
            <a:spAutoFit/>
          </a:bodyPr>
          <a:lstStyle/>
          <a:p>
            <a:pPr>
              <a:defRPr sz="1100" b="0">
                <a:solidFill>
                  <a:srgbClr val="213C57"/>
                </a:solidFill>
                <a:latin typeface="Aptos"/>
              </a:defRPr>
            </a:pPr>
            <a:r>
              <a:t>Prompt + evidence + schema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3716000" cy="594360"/>
          </a:xfrm>
          <a:prstGeom prst="rect">
            <a:avLst/>
          </a:prstGeom>
          <a:noFill/>
        </p:spPr>
        <p:txBody>
          <a:bodyPr wrap="square">
            <a:spAutoFit/>
          </a:bodyPr>
          <a:lstStyle/>
          <a:p>
            <a:pPr>
              <a:defRPr sz="2900" b="1">
                <a:solidFill>
                  <a:srgbClr val="213C57"/>
                </a:solidFill>
                <a:latin typeface="Aptos"/>
              </a:defRPr>
            </a:pPr>
            <a:r>
              <a:t>Generation workflow — JSON to cited answer</a:t>
            </a:r>
          </a:p>
        </p:txBody>
      </p:sp>
      <p:sp>
        <p:nvSpPr>
          <p:cNvPr id="3" name="TextBox 2"/>
          <p:cNvSpPr txBox="1"/>
          <p:nvPr/>
        </p:nvSpPr>
        <p:spPr>
          <a:xfrm>
            <a:off x="502920" y="960120"/>
            <a:ext cx="13716000" cy="457200"/>
          </a:xfrm>
          <a:prstGeom prst="rect">
            <a:avLst/>
          </a:prstGeom>
          <a:noFill/>
        </p:spPr>
        <p:txBody>
          <a:bodyPr wrap="square">
            <a:spAutoFit/>
          </a:bodyPr>
          <a:lstStyle/>
          <a:p>
            <a:pPr>
              <a:defRPr sz="1500" b="0">
                <a:solidFill>
                  <a:srgbClr val="61768A"/>
                </a:solidFill>
                <a:latin typeface="Aptos"/>
              </a:defRPr>
            </a:pPr>
            <a:r>
              <a:t>The model does not construct source links or connect directly to the ticket database.</a:t>
            </a:r>
          </a:p>
        </p:txBody>
      </p:sp>
      <p:sp>
        <p:nvSpPr>
          <p:cNvPr id="4" name="TextBox 3"/>
          <p:cNvSpPr txBox="1"/>
          <p:nvPr/>
        </p:nvSpPr>
        <p:spPr>
          <a:xfrm>
            <a:off x="502920" y="7863840"/>
            <a:ext cx="12801600" cy="228600"/>
          </a:xfrm>
          <a:prstGeom prst="rect">
            <a:avLst/>
          </a:prstGeom>
          <a:noFill/>
        </p:spPr>
        <p:txBody>
          <a:bodyPr wrap="square">
            <a:spAutoFit/>
          </a:bodyPr>
          <a:lstStyle/>
          <a:p>
            <a:pPr>
              <a:defRPr sz="1000" b="0">
                <a:solidFill>
                  <a:srgbClr val="61768A"/>
                </a:solidFill>
                <a:latin typeface="Aptos"/>
              </a:defRPr>
            </a:pPr>
            <a:r>
              <a:t>CONFIDENTIAL — INTERNAL DISCUSSION | Proposed architecture • All components editable</a:t>
            </a:r>
          </a:p>
        </p:txBody>
      </p:sp>
      <p:sp>
        <p:nvSpPr>
          <p:cNvPr id="5" name="TextBox 4"/>
          <p:cNvSpPr txBox="1"/>
          <p:nvPr/>
        </p:nvSpPr>
        <p:spPr>
          <a:xfrm>
            <a:off x="13533120" y="7863840"/>
            <a:ext cx="914400" cy="228600"/>
          </a:xfrm>
          <a:prstGeom prst="rect">
            <a:avLst/>
          </a:prstGeom>
          <a:noFill/>
        </p:spPr>
        <p:txBody>
          <a:bodyPr wrap="square">
            <a:spAutoFit/>
          </a:bodyPr>
          <a:lstStyle/>
          <a:p>
            <a:pPr>
              <a:defRPr sz="1000" b="0">
                <a:solidFill>
                  <a:srgbClr val="213C57"/>
                </a:solidFill>
                <a:latin typeface="Aptos"/>
              </a:defRPr>
            </a:pPr>
            <a:r>
              <a:t>3</a:t>
            </a:r>
          </a:p>
        </p:txBody>
      </p:sp>
      <p:sp>
        <p:nvSpPr>
          <p:cNvPr id="6" name="Rectangle 5"/>
          <p:cNvSpPr/>
          <p:nvPr/>
        </p:nvSpPr>
        <p:spPr>
          <a:xfrm>
            <a:off x="548640" y="2011680"/>
            <a:ext cx="2834640" cy="137160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121408"/>
            <a:ext cx="2615184" cy="457200"/>
          </a:xfrm>
          <a:prstGeom prst="rect">
            <a:avLst/>
          </a:prstGeom>
          <a:noFill/>
        </p:spPr>
        <p:txBody>
          <a:bodyPr wrap="square">
            <a:spAutoFit/>
          </a:bodyPr>
          <a:lstStyle/>
          <a:p>
            <a:pPr>
              <a:defRPr sz="1700" b="1">
                <a:solidFill>
                  <a:srgbClr val="213C57"/>
                </a:solidFill>
                <a:latin typeface="Aptos"/>
              </a:defRPr>
            </a:pPr>
            <a:r>
              <a:t>Backend</a:t>
            </a:r>
          </a:p>
        </p:txBody>
      </p:sp>
      <p:sp>
        <p:nvSpPr>
          <p:cNvPr id="8" name="TextBox 7"/>
          <p:cNvSpPr txBox="1"/>
          <p:nvPr/>
        </p:nvSpPr>
        <p:spPr>
          <a:xfrm>
            <a:off x="658368" y="2606040"/>
            <a:ext cx="2615184" cy="731520"/>
          </a:xfrm>
          <a:prstGeom prst="rect">
            <a:avLst/>
          </a:prstGeom>
          <a:noFill/>
        </p:spPr>
        <p:txBody>
          <a:bodyPr wrap="square">
            <a:spAutoFit/>
          </a:bodyPr>
          <a:lstStyle/>
          <a:p>
            <a:pPr>
              <a:defRPr sz="1300" b="0">
                <a:solidFill>
                  <a:srgbClr val="213C57"/>
                </a:solidFill>
                <a:latin typeface="Aptos"/>
              </a:defRPr>
            </a:pPr>
            <a:r>
              <a:t>Instructions + question</a:t>
            </a:r>
          </a:p>
          <a:p>
            <a:pPr>
              <a:defRPr sz="1300" b="0">
                <a:solidFill>
                  <a:srgbClr val="213C57"/>
                </a:solidFill>
                <a:latin typeface="Aptos"/>
              </a:defRPr>
            </a:pPr>
            <a:r>
              <a:t>History + evidence IDs</a:t>
            </a:r>
          </a:p>
        </p:txBody>
      </p:sp>
      <p:sp>
        <p:nvSpPr>
          <p:cNvPr id="9" name="Rectangle 8"/>
          <p:cNvSpPr/>
          <p:nvPr/>
        </p:nvSpPr>
        <p:spPr>
          <a:xfrm>
            <a:off x="4114800" y="2011680"/>
            <a:ext cx="2834640" cy="137160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24528" y="2121408"/>
            <a:ext cx="2615184" cy="457200"/>
          </a:xfrm>
          <a:prstGeom prst="rect">
            <a:avLst/>
          </a:prstGeom>
          <a:noFill/>
        </p:spPr>
        <p:txBody>
          <a:bodyPr wrap="square">
            <a:spAutoFit/>
          </a:bodyPr>
          <a:lstStyle/>
          <a:p>
            <a:pPr>
              <a:defRPr sz="1700" b="1">
                <a:solidFill>
                  <a:srgbClr val="213C57"/>
                </a:solidFill>
                <a:latin typeface="Aptos"/>
              </a:defRPr>
            </a:pPr>
            <a:r>
              <a:t>AI gateway</a:t>
            </a:r>
          </a:p>
        </p:txBody>
      </p:sp>
      <p:sp>
        <p:nvSpPr>
          <p:cNvPr id="11" name="TextBox 10"/>
          <p:cNvSpPr txBox="1"/>
          <p:nvPr/>
        </p:nvSpPr>
        <p:spPr>
          <a:xfrm>
            <a:off x="4224528" y="2606040"/>
            <a:ext cx="2615184" cy="731520"/>
          </a:xfrm>
          <a:prstGeom prst="rect">
            <a:avLst/>
          </a:prstGeom>
          <a:noFill/>
        </p:spPr>
        <p:txBody>
          <a:bodyPr wrap="square">
            <a:spAutoFit/>
          </a:bodyPr>
          <a:lstStyle/>
          <a:p>
            <a:pPr>
              <a:defRPr sz="1300" b="0">
                <a:solidFill>
                  <a:srgbClr val="213C57"/>
                </a:solidFill>
                <a:latin typeface="Aptos"/>
              </a:defRPr>
            </a:pPr>
            <a:r>
              <a:t>Authentication + routing</a:t>
            </a:r>
          </a:p>
        </p:txBody>
      </p:sp>
      <p:sp>
        <p:nvSpPr>
          <p:cNvPr id="12" name="Rectangle 11"/>
          <p:cNvSpPr/>
          <p:nvPr/>
        </p:nvSpPr>
        <p:spPr>
          <a:xfrm>
            <a:off x="7680960" y="2011680"/>
            <a:ext cx="2834640" cy="137160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90688" y="2121408"/>
            <a:ext cx="2615184" cy="457200"/>
          </a:xfrm>
          <a:prstGeom prst="rect">
            <a:avLst/>
          </a:prstGeom>
          <a:noFill/>
        </p:spPr>
        <p:txBody>
          <a:bodyPr wrap="square">
            <a:spAutoFit/>
          </a:bodyPr>
          <a:lstStyle/>
          <a:p>
            <a:pPr>
              <a:defRPr sz="1700" b="1">
                <a:solidFill>
                  <a:srgbClr val="213C57"/>
                </a:solidFill>
                <a:latin typeface="Aptos"/>
              </a:defRPr>
            </a:pPr>
            <a:r>
              <a:t>vLLM</a:t>
            </a:r>
          </a:p>
        </p:txBody>
      </p:sp>
      <p:sp>
        <p:nvSpPr>
          <p:cNvPr id="14" name="TextBox 13"/>
          <p:cNvSpPr txBox="1"/>
          <p:nvPr/>
        </p:nvSpPr>
        <p:spPr>
          <a:xfrm>
            <a:off x="7790688" y="2606040"/>
            <a:ext cx="2615184" cy="731520"/>
          </a:xfrm>
          <a:prstGeom prst="rect">
            <a:avLst/>
          </a:prstGeom>
          <a:noFill/>
        </p:spPr>
        <p:txBody>
          <a:bodyPr wrap="square">
            <a:spAutoFit/>
          </a:bodyPr>
          <a:lstStyle/>
          <a:p>
            <a:pPr>
              <a:defRPr sz="1300" b="0">
                <a:solidFill>
                  <a:srgbClr val="213C57"/>
                </a:solidFill>
                <a:latin typeface="Aptos"/>
              </a:defRPr>
            </a:pPr>
            <a:r>
              <a:t>Runs approved model</a:t>
            </a:r>
          </a:p>
        </p:txBody>
      </p:sp>
      <p:sp>
        <p:nvSpPr>
          <p:cNvPr id="15" name="Rectangle 14"/>
          <p:cNvSpPr/>
          <p:nvPr/>
        </p:nvSpPr>
        <p:spPr>
          <a:xfrm>
            <a:off x="11247120" y="2011680"/>
            <a:ext cx="2834640" cy="137160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356848" y="2121408"/>
            <a:ext cx="2615184" cy="457200"/>
          </a:xfrm>
          <a:prstGeom prst="rect">
            <a:avLst/>
          </a:prstGeom>
          <a:noFill/>
        </p:spPr>
        <p:txBody>
          <a:bodyPr wrap="square">
            <a:spAutoFit/>
          </a:bodyPr>
          <a:lstStyle/>
          <a:p>
            <a:pPr>
              <a:defRPr sz="1700" b="1">
                <a:solidFill>
                  <a:srgbClr val="213C57"/>
                </a:solidFill>
                <a:latin typeface="Aptos"/>
              </a:defRPr>
            </a:pPr>
            <a:r>
              <a:t>Llama</a:t>
            </a:r>
          </a:p>
        </p:txBody>
      </p:sp>
      <p:sp>
        <p:nvSpPr>
          <p:cNvPr id="17" name="TextBox 16"/>
          <p:cNvSpPr txBox="1"/>
          <p:nvPr/>
        </p:nvSpPr>
        <p:spPr>
          <a:xfrm>
            <a:off x="11356848" y="2606040"/>
            <a:ext cx="2615184" cy="731520"/>
          </a:xfrm>
          <a:prstGeom prst="rect">
            <a:avLst/>
          </a:prstGeom>
          <a:noFill/>
        </p:spPr>
        <p:txBody>
          <a:bodyPr wrap="square">
            <a:spAutoFit/>
          </a:bodyPr>
          <a:lstStyle/>
          <a:p>
            <a:pPr>
              <a:defRPr sz="1300" b="0">
                <a:solidFill>
                  <a:srgbClr val="213C57"/>
                </a:solidFill>
                <a:latin typeface="Aptos"/>
              </a:defRPr>
            </a:pPr>
            <a:r>
              <a:t>Generates schema-constrained</a:t>
            </a:r>
          </a:p>
          <a:p>
            <a:pPr>
              <a:defRPr sz="1300" b="0">
                <a:solidFill>
                  <a:srgbClr val="213C57"/>
                </a:solidFill>
                <a:latin typeface="Aptos"/>
              </a:defRPr>
            </a:pPr>
            <a:r>
              <a:t>JSON response</a:t>
            </a:r>
          </a:p>
        </p:txBody>
      </p:sp>
      <p:cxnSp>
        <p:nvCxnSpPr>
          <p:cNvPr id="18" name="Connector 17"/>
          <p:cNvCxnSpPr/>
          <p:nvPr/>
        </p:nvCxnSpPr>
        <p:spPr>
          <a:xfrm>
            <a:off x="3383280" y="2606040"/>
            <a:ext cx="73152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949440" y="2606040"/>
            <a:ext cx="73152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515600" y="2606040"/>
            <a:ext cx="73152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114800" y="4800600"/>
            <a:ext cx="2834640" cy="155448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24528" y="4910328"/>
            <a:ext cx="2615184" cy="457200"/>
          </a:xfrm>
          <a:prstGeom prst="rect">
            <a:avLst/>
          </a:prstGeom>
          <a:noFill/>
        </p:spPr>
        <p:txBody>
          <a:bodyPr wrap="square">
            <a:spAutoFit/>
          </a:bodyPr>
          <a:lstStyle/>
          <a:p>
            <a:pPr>
              <a:defRPr sz="1700" b="1">
                <a:solidFill>
                  <a:srgbClr val="213C57"/>
                </a:solidFill>
                <a:latin typeface="Aptos"/>
              </a:defRPr>
            </a:pPr>
            <a:r>
              <a:t>Backend validation</a:t>
            </a:r>
          </a:p>
        </p:txBody>
      </p:sp>
      <p:sp>
        <p:nvSpPr>
          <p:cNvPr id="23" name="TextBox 22"/>
          <p:cNvSpPr txBox="1"/>
          <p:nvPr/>
        </p:nvSpPr>
        <p:spPr>
          <a:xfrm>
            <a:off x="4224528" y="5394960"/>
            <a:ext cx="2615184" cy="914400"/>
          </a:xfrm>
          <a:prstGeom prst="rect">
            <a:avLst/>
          </a:prstGeom>
          <a:noFill/>
        </p:spPr>
        <p:txBody>
          <a:bodyPr wrap="square">
            <a:spAutoFit/>
          </a:bodyPr>
          <a:lstStyle/>
          <a:p>
            <a:pPr>
              <a:defRPr sz="1300" b="0">
                <a:solidFill>
                  <a:srgbClr val="213C57"/>
                </a:solidFill>
                <a:latin typeface="Aptos"/>
              </a:defRPr>
            </a:pPr>
            <a:r>
              <a:t>Check JSON + evidence IDs</a:t>
            </a:r>
          </a:p>
          <a:p>
            <a:pPr>
              <a:defRPr sz="1300" b="0">
                <a:solidFill>
                  <a:srgbClr val="213C57"/>
                </a:solidFill>
                <a:latin typeface="Aptos"/>
              </a:defRPr>
            </a:pPr>
            <a:r>
              <a:t>Attach stored source URLs</a:t>
            </a:r>
          </a:p>
          <a:p>
            <a:pPr>
              <a:defRPr sz="1300" b="0">
                <a:solidFill>
                  <a:srgbClr val="213C57"/>
                </a:solidFill>
                <a:latin typeface="Aptos"/>
              </a:defRPr>
            </a:pPr>
            <a:r>
              <a:t>Handle invalid responses</a:t>
            </a:r>
          </a:p>
        </p:txBody>
      </p:sp>
      <p:sp>
        <p:nvSpPr>
          <p:cNvPr id="24" name="Rectangle 23"/>
          <p:cNvSpPr/>
          <p:nvPr/>
        </p:nvSpPr>
        <p:spPr>
          <a:xfrm>
            <a:off x="548640" y="4800600"/>
            <a:ext cx="2834640" cy="155448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4910328"/>
            <a:ext cx="2615184" cy="457200"/>
          </a:xfrm>
          <a:prstGeom prst="rect">
            <a:avLst/>
          </a:prstGeom>
          <a:noFill/>
        </p:spPr>
        <p:txBody>
          <a:bodyPr wrap="square">
            <a:spAutoFit/>
          </a:bodyPr>
          <a:lstStyle/>
          <a:p>
            <a:pPr>
              <a:defRPr sz="1700" b="1">
                <a:solidFill>
                  <a:srgbClr val="213C57"/>
                </a:solidFill>
                <a:latin typeface="Aptos"/>
              </a:defRPr>
            </a:pPr>
            <a:r>
              <a:t>React portal</a:t>
            </a:r>
          </a:p>
        </p:txBody>
      </p:sp>
      <p:sp>
        <p:nvSpPr>
          <p:cNvPr id="26" name="TextBox 25"/>
          <p:cNvSpPr txBox="1"/>
          <p:nvPr/>
        </p:nvSpPr>
        <p:spPr>
          <a:xfrm>
            <a:off x="658368" y="5394960"/>
            <a:ext cx="2615184" cy="914400"/>
          </a:xfrm>
          <a:prstGeom prst="rect">
            <a:avLst/>
          </a:prstGeom>
          <a:noFill/>
        </p:spPr>
        <p:txBody>
          <a:bodyPr wrap="square">
            <a:spAutoFit/>
          </a:bodyPr>
          <a:lstStyle/>
          <a:p>
            <a:pPr>
              <a:defRPr sz="1300" b="0">
                <a:solidFill>
                  <a:srgbClr val="213C57"/>
                </a:solidFill>
                <a:latin typeface="Aptos"/>
              </a:defRPr>
            </a:pPr>
            <a:r>
              <a:t>Answer + excerpts</a:t>
            </a:r>
          </a:p>
          <a:p>
            <a:pPr>
              <a:defRPr sz="1300" b="0">
                <a:solidFill>
                  <a:srgbClr val="213C57"/>
                </a:solidFill>
                <a:latin typeface="Aptos"/>
              </a:defRPr>
            </a:pPr>
            <a:r>
              <a:t>Clickable ticket citations</a:t>
            </a:r>
          </a:p>
        </p:txBody>
      </p:sp>
      <p:cxnSp>
        <p:nvCxnSpPr>
          <p:cNvPr id="27" name="Connector 26"/>
          <p:cNvCxnSpPr/>
          <p:nvPr/>
        </p:nvCxnSpPr>
        <p:spPr>
          <a:xfrm>
            <a:off x="12664440" y="3383280"/>
            <a:ext cx="0" cy="77724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2801600" y="3657600"/>
            <a:ext cx="2468880" cy="457200"/>
          </a:xfrm>
          <a:prstGeom prst="rect">
            <a:avLst/>
          </a:prstGeom>
          <a:noFill/>
        </p:spPr>
        <p:txBody>
          <a:bodyPr wrap="square">
            <a:spAutoFit/>
          </a:bodyPr>
          <a:lstStyle/>
          <a:p>
            <a:pPr>
              <a:defRPr sz="1100" b="0">
                <a:solidFill>
                  <a:srgbClr val="213C57"/>
                </a:solidFill>
                <a:latin typeface="Aptos"/>
              </a:defRPr>
            </a:pPr>
            <a:r>
              <a:t>JSON</a:t>
            </a:r>
          </a:p>
        </p:txBody>
      </p:sp>
      <p:cxnSp>
        <p:nvCxnSpPr>
          <p:cNvPr id="29" name="Connector 28"/>
          <p:cNvCxnSpPr/>
          <p:nvPr/>
        </p:nvCxnSpPr>
        <p:spPr>
          <a:xfrm flipH="1">
            <a:off x="5532120" y="4160520"/>
            <a:ext cx="713232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315200" y="3657600"/>
            <a:ext cx="2468880" cy="457200"/>
          </a:xfrm>
          <a:prstGeom prst="rect">
            <a:avLst/>
          </a:prstGeom>
          <a:noFill/>
        </p:spPr>
        <p:txBody>
          <a:bodyPr wrap="square">
            <a:spAutoFit/>
          </a:bodyPr>
          <a:lstStyle/>
          <a:p>
            <a:pPr>
              <a:defRPr sz="1100" b="0">
                <a:solidFill>
                  <a:srgbClr val="213C57"/>
                </a:solidFill>
                <a:latin typeface="Aptos"/>
              </a:defRPr>
            </a:pPr>
            <a:r>
              <a:t>Return through vLLM + gateway</a:t>
            </a:r>
          </a:p>
        </p:txBody>
      </p:sp>
      <p:cxnSp>
        <p:nvCxnSpPr>
          <p:cNvPr id="31" name="Connector 30"/>
          <p:cNvCxnSpPr/>
          <p:nvPr/>
        </p:nvCxnSpPr>
        <p:spPr>
          <a:xfrm>
            <a:off x="5532120" y="4160520"/>
            <a:ext cx="0" cy="64008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3383280" y="5577840"/>
            <a:ext cx="73152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291840" y="6492240"/>
            <a:ext cx="2468880" cy="457200"/>
          </a:xfrm>
          <a:prstGeom prst="rect">
            <a:avLst/>
          </a:prstGeom>
          <a:noFill/>
        </p:spPr>
        <p:txBody>
          <a:bodyPr wrap="square">
            <a:spAutoFit/>
          </a:bodyPr>
          <a:lstStyle/>
          <a:p>
            <a:pPr>
              <a:defRPr sz="1100" b="0">
                <a:solidFill>
                  <a:srgbClr val="213C57"/>
                </a:solidFill>
                <a:latin typeface="Aptos"/>
              </a:defRPr>
            </a:pPr>
            <a:r>
              <a:t>Validated result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3716000" cy="594360"/>
          </a:xfrm>
          <a:prstGeom prst="rect">
            <a:avLst/>
          </a:prstGeom>
          <a:noFill/>
        </p:spPr>
        <p:txBody>
          <a:bodyPr wrap="square">
            <a:spAutoFit/>
          </a:bodyPr>
          <a:lstStyle/>
          <a:p>
            <a:pPr>
              <a:defRPr sz="2900" b="1">
                <a:solidFill>
                  <a:srgbClr val="213C57"/>
                </a:solidFill>
                <a:latin typeface="Aptos"/>
              </a:defRPr>
            </a:pPr>
            <a:r>
              <a:t>Daily import and indexing</a:t>
            </a:r>
          </a:p>
        </p:txBody>
      </p:sp>
      <p:sp>
        <p:nvSpPr>
          <p:cNvPr id="3" name="TextBox 2"/>
          <p:cNvSpPr txBox="1"/>
          <p:nvPr/>
        </p:nvSpPr>
        <p:spPr>
          <a:xfrm>
            <a:off x="502920" y="960120"/>
            <a:ext cx="13716000" cy="457200"/>
          </a:xfrm>
          <a:prstGeom prst="rect">
            <a:avLst/>
          </a:prstGeom>
          <a:noFill/>
        </p:spPr>
        <p:txBody>
          <a:bodyPr wrap="square">
            <a:spAutoFit/>
          </a:bodyPr>
          <a:lstStyle/>
          <a:p>
            <a:pPr>
              <a:defRPr sz="1500" b="0">
                <a:solidFill>
                  <a:srgbClr val="61768A"/>
                </a:solidFill>
                <a:latin typeface="Aptos"/>
              </a:defRPr>
            </a:pPr>
            <a:r>
              <a:t>The offline update path is independent of user questions.</a:t>
            </a:r>
          </a:p>
        </p:txBody>
      </p:sp>
      <p:sp>
        <p:nvSpPr>
          <p:cNvPr id="4" name="TextBox 3"/>
          <p:cNvSpPr txBox="1"/>
          <p:nvPr/>
        </p:nvSpPr>
        <p:spPr>
          <a:xfrm>
            <a:off x="502920" y="7863840"/>
            <a:ext cx="12801600" cy="228600"/>
          </a:xfrm>
          <a:prstGeom prst="rect">
            <a:avLst/>
          </a:prstGeom>
          <a:noFill/>
        </p:spPr>
        <p:txBody>
          <a:bodyPr wrap="square">
            <a:spAutoFit/>
          </a:bodyPr>
          <a:lstStyle/>
          <a:p>
            <a:pPr>
              <a:defRPr sz="1000" b="0">
                <a:solidFill>
                  <a:srgbClr val="61768A"/>
                </a:solidFill>
                <a:latin typeface="Aptos"/>
              </a:defRPr>
            </a:pPr>
            <a:r>
              <a:t>CONFIDENTIAL — INTERNAL DISCUSSION | Proposed architecture • All components editable</a:t>
            </a:r>
          </a:p>
        </p:txBody>
      </p:sp>
      <p:sp>
        <p:nvSpPr>
          <p:cNvPr id="5" name="TextBox 4"/>
          <p:cNvSpPr txBox="1"/>
          <p:nvPr/>
        </p:nvSpPr>
        <p:spPr>
          <a:xfrm>
            <a:off x="13533120" y="7863840"/>
            <a:ext cx="914400" cy="228600"/>
          </a:xfrm>
          <a:prstGeom prst="rect">
            <a:avLst/>
          </a:prstGeom>
          <a:noFill/>
        </p:spPr>
        <p:txBody>
          <a:bodyPr wrap="square">
            <a:spAutoFit/>
          </a:bodyPr>
          <a:lstStyle/>
          <a:p>
            <a:pPr>
              <a:defRPr sz="1000" b="0">
                <a:solidFill>
                  <a:srgbClr val="213C57"/>
                </a:solidFill>
                <a:latin typeface="Aptos"/>
              </a:defRPr>
            </a:pPr>
            <a:r>
              <a:t>4</a:t>
            </a:r>
          </a:p>
        </p:txBody>
      </p:sp>
      <p:sp>
        <p:nvSpPr>
          <p:cNvPr id="6" name="Rectangle 5"/>
          <p:cNvSpPr/>
          <p:nvPr/>
        </p:nvSpPr>
        <p:spPr>
          <a:xfrm>
            <a:off x="59436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9968"/>
            <a:ext cx="3758183" cy="457200"/>
          </a:xfrm>
          <a:prstGeom prst="rect">
            <a:avLst/>
          </a:prstGeom>
          <a:noFill/>
        </p:spPr>
        <p:txBody>
          <a:bodyPr wrap="square">
            <a:spAutoFit/>
          </a:bodyPr>
          <a:lstStyle/>
          <a:p>
            <a:pPr>
              <a:defRPr sz="1700" b="1">
                <a:solidFill>
                  <a:srgbClr val="213C57"/>
                </a:solidFill>
                <a:latin typeface="Aptos"/>
              </a:defRPr>
            </a:pPr>
            <a:r>
              <a:t>ServiceNow + ADO</a:t>
            </a:r>
          </a:p>
        </p:txBody>
      </p:sp>
      <p:sp>
        <p:nvSpPr>
          <p:cNvPr id="8" name="TextBox 7"/>
          <p:cNvSpPr txBox="1"/>
          <p:nvPr/>
        </p:nvSpPr>
        <p:spPr>
          <a:xfrm>
            <a:off x="704088" y="2514600"/>
            <a:ext cx="3758183" cy="868680"/>
          </a:xfrm>
          <a:prstGeom prst="rect">
            <a:avLst/>
          </a:prstGeom>
          <a:noFill/>
        </p:spPr>
        <p:txBody>
          <a:bodyPr wrap="square">
            <a:spAutoFit/>
          </a:bodyPr>
          <a:lstStyle/>
          <a:p>
            <a:pPr>
              <a:defRPr sz="1300" b="0">
                <a:solidFill>
                  <a:srgbClr val="213C57"/>
                </a:solidFill>
                <a:latin typeface="Aptos"/>
              </a:defRPr>
            </a:pPr>
            <a:r>
              <a:t>Read-only APIs</a:t>
            </a:r>
          </a:p>
        </p:txBody>
      </p:sp>
      <p:cxnSp>
        <p:nvCxnSpPr>
          <p:cNvPr id="9" name="Connector 8"/>
          <p:cNvCxnSpPr/>
          <p:nvPr/>
        </p:nvCxnSpPr>
        <p:spPr>
          <a:xfrm>
            <a:off x="457200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34924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58968" y="2029968"/>
            <a:ext cx="3758183" cy="457200"/>
          </a:xfrm>
          <a:prstGeom prst="rect">
            <a:avLst/>
          </a:prstGeom>
          <a:noFill/>
        </p:spPr>
        <p:txBody>
          <a:bodyPr wrap="square">
            <a:spAutoFit/>
          </a:bodyPr>
          <a:lstStyle/>
          <a:p>
            <a:pPr>
              <a:defRPr sz="1700" b="1">
                <a:solidFill>
                  <a:srgbClr val="213C57"/>
                </a:solidFill>
                <a:latin typeface="Aptos"/>
              </a:defRPr>
            </a:pPr>
            <a:r>
              <a:t>Import service</a:t>
            </a:r>
          </a:p>
        </p:txBody>
      </p:sp>
      <p:sp>
        <p:nvSpPr>
          <p:cNvPr id="12" name="TextBox 11"/>
          <p:cNvSpPr txBox="1"/>
          <p:nvPr/>
        </p:nvSpPr>
        <p:spPr>
          <a:xfrm>
            <a:off x="5458968" y="2514600"/>
            <a:ext cx="3758183" cy="868680"/>
          </a:xfrm>
          <a:prstGeom prst="rect">
            <a:avLst/>
          </a:prstGeom>
          <a:noFill/>
        </p:spPr>
        <p:txBody>
          <a:bodyPr wrap="square">
            <a:spAutoFit/>
          </a:bodyPr>
          <a:lstStyle/>
          <a:p>
            <a:pPr>
              <a:defRPr sz="1300" b="0">
                <a:solidFill>
                  <a:srgbClr val="213C57"/>
                </a:solidFill>
                <a:latin typeface="Aptos"/>
              </a:defRPr>
            </a:pPr>
            <a:r>
              <a:t>Pagination + checkpoints</a:t>
            </a:r>
          </a:p>
        </p:txBody>
      </p:sp>
      <p:cxnSp>
        <p:nvCxnSpPr>
          <p:cNvPr id="13" name="Connector 12"/>
          <p:cNvCxnSpPr/>
          <p:nvPr/>
        </p:nvCxnSpPr>
        <p:spPr>
          <a:xfrm>
            <a:off x="932688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010412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13848" y="2029968"/>
            <a:ext cx="3758183" cy="457200"/>
          </a:xfrm>
          <a:prstGeom prst="rect">
            <a:avLst/>
          </a:prstGeom>
          <a:noFill/>
        </p:spPr>
        <p:txBody>
          <a:bodyPr wrap="square">
            <a:spAutoFit/>
          </a:bodyPr>
          <a:lstStyle/>
          <a:p>
            <a:pPr>
              <a:defRPr sz="1700" b="1">
                <a:solidFill>
                  <a:srgbClr val="213C57"/>
                </a:solidFill>
                <a:latin typeface="Aptos"/>
              </a:defRPr>
            </a:pPr>
            <a:r>
              <a:t>PostgreSQL</a:t>
            </a:r>
          </a:p>
        </p:txBody>
      </p:sp>
      <p:sp>
        <p:nvSpPr>
          <p:cNvPr id="16" name="TextBox 15"/>
          <p:cNvSpPr txBox="1"/>
          <p:nvPr/>
        </p:nvSpPr>
        <p:spPr>
          <a:xfrm>
            <a:off x="10213848" y="2514600"/>
            <a:ext cx="3758183" cy="868680"/>
          </a:xfrm>
          <a:prstGeom prst="rect">
            <a:avLst/>
          </a:prstGeom>
          <a:noFill/>
        </p:spPr>
        <p:txBody>
          <a:bodyPr wrap="square">
            <a:spAutoFit/>
          </a:bodyPr>
          <a:lstStyle/>
          <a:p>
            <a:pPr>
              <a:defRPr sz="1300" b="0">
                <a:solidFill>
                  <a:srgbClr val="213C57"/>
                </a:solidFill>
                <a:latin typeface="Aptos"/>
              </a:defRPr>
            </a:pPr>
            <a:r>
              <a:t>Upsert approved records</a:t>
            </a:r>
          </a:p>
        </p:txBody>
      </p:sp>
      <p:sp>
        <p:nvSpPr>
          <p:cNvPr id="17" name="Rectangle 16"/>
          <p:cNvSpPr/>
          <p:nvPr/>
        </p:nvSpPr>
        <p:spPr>
          <a:xfrm>
            <a:off x="59436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4864608"/>
            <a:ext cx="3758183" cy="457200"/>
          </a:xfrm>
          <a:prstGeom prst="rect">
            <a:avLst/>
          </a:prstGeom>
          <a:noFill/>
        </p:spPr>
        <p:txBody>
          <a:bodyPr wrap="square">
            <a:spAutoFit/>
          </a:bodyPr>
          <a:lstStyle/>
          <a:p>
            <a:pPr>
              <a:defRPr sz="1700" b="1">
                <a:solidFill>
                  <a:srgbClr val="213C57"/>
                </a:solidFill>
                <a:latin typeface="Aptos"/>
              </a:defRPr>
            </a:pPr>
            <a:r>
              <a:t>Text preparation</a:t>
            </a:r>
          </a:p>
        </p:txBody>
      </p:sp>
      <p:sp>
        <p:nvSpPr>
          <p:cNvPr id="19" name="TextBox 18"/>
          <p:cNvSpPr txBox="1"/>
          <p:nvPr/>
        </p:nvSpPr>
        <p:spPr>
          <a:xfrm>
            <a:off x="704088" y="5349240"/>
            <a:ext cx="3758183" cy="868680"/>
          </a:xfrm>
          <a:prstGeom prst="rect">
            <a:avLst/>
          </a:prstGeom>
          <a:noFill/>
        </p:spPr>
        <p:txBody>
          <a:bodyPr wrap="square">
            <a:spAutoFit/>
          </a:bodyPr>
          <a:lstStyle/>
          <a:p>
            <a:pPr>
              <a:defRPr sz="1300" b="0">
                <a:solidFill>
                  <a:srgbClr val="213C57"/>
                </a:solidFill>
                <a:latin typeface="Aptos"/>
              </a:defRPr>
            </a:pPr>
            <a:r>
              <a:t>Passages + source IDs</a:t>
            </a:r>
          </a:p>
        </p:txBody>
      </p:sp>
      <p:cxnSp>
        <p:nvCxnSpPr>
          <p:cNvPr id="20" name="Connector 19"/>
          <p:cNvCxnSpPr/>
          <p:nvPr/>
        </p:nvCxnSpPr>
        <p:spPr>
          <a:xfrm>
            <a:off x="457200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4924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58968" y="4864608"/>
            <a:ext cx="3758183" cy="457200"/>
          </a:xfrm>
          <a:prstGeom prst="rect">
            <a:avLst/>
          </a:prstGeom>
          <a:noFill/>
        </p:spPr>
        <p:txBody>
          <a:bodyPr wrap="square">
            <a:spAutoFit/>
          </a:bodyPr>
          <a:lstStyle/>
          <a:p>
            <a:pPr>
              <a:defRPr sz="1700" b="1">
                <a:solidFill>
                  <a:srgbClr val="213C57"/>
                </a:solidFill>
                <a:latin typeface="Aptos"/>
              </a:defRPr>
            </a:pPr>
            <a:r>
              <a:t>Gateway → embedding</a:t>
            </a:r>
          </a:p>
        </p:txBody>
      </p:sp>
      <p:sp>
        <p:nvSpPr>
          <p:cNvPr id="23" name="TextBox 22"/>
          <p:cNvSpPr txBox="1"/>
          <p:nvPr/>
        </p:nvSpPr>
        <p:spPr>
          <a:xfrm>
            <a:off x="5458968" y="5349240"/>
            <a:ext cx="3758183" cy="868680"/>
          </a:xfrm>
          <a:prstGeom prst="rect">
            <a:avLst/>
          </a:prstGeom>
          <a:noFill/>
        </p:spPr>
        <p:txBody>
          <a:bodyPr wrap="square">
            <a:spAutoFit/>
          </a:bodyPr>
          <a:lstStyle/>
          <a:p>
            <a:pPr>
              <a:defRPr sz="1300" b="0">
                <a:solidFill>
                  <a:srgbClr val="213C57"/>
                </a:solidFill>
                <a:latin typeface="Aptos"/>
              </a:defRPr>
            </a:pPr>
            <a:r>
              <a:t>Create changed vectors</a:t>
            </a:r>
          </a:p>
        </p:txBody>
      </p:sp>
      <p:cxnSp>
        <p:nvCxnSpPr>
          <p:cNvPr id="24" name="Connector 23"/>
          <p:cNvCxnSpPr/>
          <p:nvPr/>
        </p:nvCxnSpPr>
        <p:spPr>
          <a:xfrm>
            <a:off x="932688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010412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13848" y="4864608"/>
            <a:ext cx="3758183" cy="457200"/>
          </a:xfrm>
          <a:prstGeom prst="rect">
            <a:avLst/>
          </a:prstGeom>
          <a:noFill/>
        </p:spPr>
        <p:txBody>
          <a:bodyPr wrap="square">
            <a:spAutoFit/>
          </a:bodyPr>
          <a:lstStyle/>
          <a:p>
            <a:pPr>
              <a:defRPr sz="1700" b="1">
                <a:solidFill>
                  <a:srgbClr val="213C57"/>
                </a:solidFill>
                <a:latin typeface="Aptos"/>
              </a:defRPr>
            </a:pPr>
            <a:r>
              <a:t>pgvector</a:t>
            </a:r>
          </a:p>
        </p:txBody>
      </p:sp>
      <p:sp>
        <p:nvSpPr>
          <p:cNvPr id="27" name="TextBox 26"/>
          <p:cNvSpPr txBox="1"/>
          <p:nvPr/>
        </p:nvSpPr>
        <p:spPr>
          <a:xfrm>
            <a:off x="10213848" y="5349240"/>
            <a:ext cx="3758183" cy="868680"/>
          </a:xfrm>
          <a:prstGeom prst="rect">
            <a:avLst/>
          </a:prstGeom>
          <a:noFill/>
        </p:spPr>
        <p:txBody>
          <a:bodyPr wrap="square">
            <a:spAutoFit/>
          </a:bodyPr>
          <a:lstStyle/>
          <a:p>
            <a:pPr>
              <a:defRPr sz="1300" b="0">
                <a:solidFill>
                  <a:srgbClr val="213C57"/>
                </a:solidFill>
                <a:latin typeface="Aptos"/>
              </a:defRPr>
            </a:pPr>
            <a:r>
              <a:t>Store updated embeddings</a:t>
            </a:r>
          </a:p>
        </p:txBody>
      </p:sp>
      <p:cxnSp>
        <p:nvCxnSpPr>
          <p:cNvPr id="28" name="Connector 27"/>
          <p:cNvCxnSpPr/>
          <p:nvPr/>
        </p:nvCxnSpPr>
        <p:spPr>
          <a:xfrm>
            <a:off x="12070080" y="3429000"/>
            <a:ext cx="0" cy="64008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560320" y="4069080"/>
            <a:ext cx="9509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560320" y="4069080"/>
            <a:ext cx="0" cy="68580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31520" y="6858000"/>
            <a:ext cx="13258800" cy="502920"/>
          </a:xfrm>
          <a:prstGeom prst="rect">
            <a:avLst/>
          </a:prstGeom>
          <a:noFill/>
        </p:spPr>
        <p:txBody>
          <a:bodyPr wrap="square">
            <a:spAutoFit/>
          </a:bodyPr>
          <a:lstStyle/>
          <a:p>
            <a:pPr>
              <a:defRPr sz="1200" b="0">
                <a:solidFill>
                  <a:srgbClr val="61768A"/>
                </a:solidFill>
                <a:latin typeface="Aptos"/>
              </a:defRPr>
            </a:pPr>
            <a:r>
              <a:t>Conceptual flow; logical stages may execute in parallel or be selected conditionally where indicated.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3716000" cy="594360"/>
          </a:xfrm>
          <a:prstGeom prst="rect">
            <a:avLst/>
          </a:prstGeom>
          <a:noFill/>
        </p:spPr>
        <p:txBody>
          <a:bodyPr wrap="square">
            <a:spAutoFit/>
          </a:bodyPr>
          <a:lstStyle/>
          <a:p>
            <a:pPr>
              <a:defRPr sz="2900" b="1">
                <a:solidFill>
                  <a:srgbClr val="213C57"/>
                </a:solidFill>
                <a:latin typeface="Aptos"/>
              </a:defRPr>
            </a:pPr>
            <a:r>
              <a:t>How the data is organised</a:t>
            </a:r>
          </a:p>
        </p:txBody>
      </p:sp>
      <p:sp>
        <p:nvSpPr>
          <p:cNvPr id="3" name="TextBox 2"/>
          <p:cNvSpPr txBox="1"/>
          <p:nvPr/>
        </p:nvSpPr>
        <p:spPr>
          <a:xfrm>
            <a:off x="502920" y="960120"/>
            <a:ext cx="13716000" cy="457200"/>
          </a:xfrm>
          <a:prstGeom prst="rect">
            <a:avLst/>
          </a:prstGeom>
          <a:noFill/>
        </p:spPr>
        <p:txBody>
          <a:bodyPr wrap="square">
            <a:spAutoFit/>
          </a:bodyPr>
          <a:lstStyle/>
          <a:p>
            <a:pPr>
              <a:defRPr sz="1500" b="0">
                <a:solidFill>
                  <a:srgbClr val="61768A"/>
                </a:solidFill>
                <a:latin typeface="Aptos"/>
              </a:defRPr>
            </a:pPr>
            <a:r>
              <a:t>Source and search representations remain in PostgreSQL.</a:t>
            </a:r>
          </a:p>
        </p:txBody>
      </p:sp>
      <p:sp>
        <p:nvSpPr>
          <p:cNvPr id="4" name="TextBox 3"/>
          <p:cNvSpPr txBox="1"/>
          <p:nvPr/>
        </p:nvSpPr>
        <p:spPr>
          <a:xfrm>
            <a:off x="502920" y="7863840"/>
            <a:ext cx="12801600" cy="228600"/>
          </a:xfrm>
          <a:prstGeom prst="rect">
            <a:avLst/>
          </a:prstGeom>
          <a:noFill/>
        </p:spPr>
        <p:txBody>
          <a:bodyPr wrap="square">
            <a:spAutoFit/>
          </a:bodyPr>
          <a:lstStyle/>
          <a:p>
            <a:pPr>
              <a:defRPr sz="1000" b="0">
                <a:solidFill>
                  <a:srgbClr val="61768A"/>
                </a:solidFill>
                <a:latin typeface="Aptos"/>
              </a:defRPr>
            </a:pPr>
            <a:r>
              <a:t>CONFIDENTIAL — INTERNAL DISCUSSION | Proposed architecture • All components editable</a:t>
            </a:r>
          </a:p>
        </p:txBody>
      </p:sp>
      <p:sp>
        <p:nvSpPr>
          <p:cNvPr id="5" name="TextBox 4"/>
          <p:cNvSpPr txBox="1"/>
          <p:nvPr/>
        </p:nvSpPr>
        <p:spPr>
          <a:xfrm>
            <a:off x="13533120" y="7863840"/>
            <a:ext cx="914400" cy="228600"/>
          </a:xfrm>
          <a:prstGeom prst="rect">
            <a:avLst/>
          </a:prstGeom>
          <a:noFill/>
        </p:spPr>
        <p:txBody>
          <a:bodyPr wrap="square">
            <a:spAutoFit/>
          </a:bodyPr>
          <a:lstStyle/>
          <a:p>
            <a:pPr>
              <a:defRPr sz="1000" b="0">
                <a:solidFill>
                  <a:srgbClr val="213C57"/>
                </a:solidFill>
                <a:latin typeface="Aptos"/>
              </a:defRPr>
            </a:pPr>
            <a:r>
              <a:t>5</a:t>
            </a:r>
          </a:p>
        </p:txBody>
      </p:sp>
      <p:sp>
        <p:nvSpPr>
          <p:cNvPr id="6" name="Rectangle 5"/>
          <p:cNvSpPr/>
          <p:nvPr/>
        </p:nvSpPr>
        <p:spPr>
          <a:xfrm>
            <a:off x="59436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9968"/>
            <a:ext cx="3758183" cy="457200"/>
          </a:xfrm>
          <a:prstGeom prst="rect">
            <a:avLst/>
          </a:prstGeom>
          <a:noFill/>
        </p:spPr>
        <p:txBody>
          <a:bodyPr wrap="square">
            <a:spAutoFit/>
          </a:bodyPr>
          <a:lstStyle/>
          <a:p>
            <a:pPr>
              <a:defRPr sz="1700" b="1">
                <a:solidFill>
                  <a:srgbClr val="213C57"/>
                </a:solidFill>
                <a:latin typeface="Aptos"/>
              </a:defRPr>
            </a:pPr>
            <a:r>
              <a:t>Imported record</a:t>
            </a:r>
          </a:p>
        </p:txBody>
      </p:sp>
      <p:sp>
        <p:nvSpPr>
          <p:cNvPr id="8" name="TextBox 7"/>
          <p:cNvSpPr txBox="1"/>
          <p:nvPr/>
        </p:nvSpPr>
        <p:spPr>
          <a:xfrm>
            <a:off x="704088" y="2514600"/>
            <a:ext cx="3758183" cy="868680"/>
          </a:xfrm>
          <a:prstGeom prst="rect">
            <a:avLst/>
          </a:prstGeom>
          <a:noFill/>
        </p:spPr>
        <p:txBody>
          <a:bodyPr wrap="square">
            <a:spAutoFit/>
          </a:bodyPr>
          <a:lstStyle/>
          <a:p>
            <a:pPr>
              <a:defRPr sz="1300" b="0">
                <a:solidFill>
                  <a:srgbClr val="213C57"/>
                </a:solidFill>
                <a:latin typeface="Aptos"/>
              </a:defRPr>
            </a:pPr>
            <a:r>
              <a:t>Columns + JSONB</a:t>
            </a:r>
          </a:p>
        </p:txBody>
      </p:sp>
      <p:cxnSp>
        <p:nvCxnSpPr>
          <p:cNvPr id="9" name="Connector 8"/>
          <p:cNvCxnSpPr/>
          <p:nvPr/>
        </p:nvCxnSpPr>
        <p:spPr>
          <a:xfrm>
            <a:off x="457200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34924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58968" y="2029968"/>
            <a:ext cx="3758183" cy="457200"/>
          </a:xfrm>
          <a:prstGeom prst="rect">
            <a:avLst/>
          </a:prstGeom>
          <a:noFill/>
        </p:spPr>
        <p:txBody>
          <a:bodyPr wrap="square">
            <a:spAutoFit/>
          </a:bodyPr>
          <a:lstStyle/>
          <a:p>
            <a:pPr>
              <a:defRPr sz="1700" b="1">
                <a:solidFill>
                  <a:srgbClr val="213C57"/>
                </a:solidFill>
                <a:latin typeface="Aptos"/>
              </a:defRPr>
            </a:pPr>
            <a:r>
              <a:t>Notes / comments</a:t>
            </a:r>
          </a:p>
        </p:txBody>
      </p:sp>
      <p:sp>
        <p:nvSpPr>
          <p:cNvPr id="12" name="TextBox 11"/>
          <p:cNvSpPr txBox="1"/>
          <p:nvPr/>
        </p:nvSpPr>
        <p:spPr>
          <a:xfrm>
            <a:off x="5458968" y="2514600"/>
            <a:ext cx="3758183" cy="868680"/>
          </a:xfrm>
          <a:prstGeom prst="rect">
            <a:avLst/>
          </a:prstGeom>
          <a:noFill/>
        </p:spPr>
        <p:txBody>
          <a:bodyPr wrap="square">
            <a:spAutoFit/>
          </a:bodyPr>
          <a:lstStyle/>
          <a:p>
            <a:pPr>
              <a:defRPr sz="1300" b="0">
                <a:solidFill>
                  <a:srgbClr val="213C57"/>
                </a:solidFill>
                <a:latin typeface="Aptos"/>
              </a:defRPr>
            </a:pPr>
            <a:r>
              <a:t>Child rows + timestamps</a:t>
            </a:r>
          </a:p>
        </p:txBody>
      </p:sp>
      <p:cxnSp>
        <p:nvCxnSpPr>
          <p:cNvPr id="13" name="Connector 12"/>
          <p:cNvCxnSpPr/>
          <p:nvPr/>
        </p:nvCxnSpPr>
        <p:spPr>
          <a:xfrm>
            <a:off x="932688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010412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13848" y="2029968"/>
            <a:ext cx="3758183" cy="457200"/>
          </a:xfrm>
          <a:prstGeom prst="rect">
            <a:avLst/>
          </a:prstGeom>
          <a:noFill/>
        </p:spPr>
        <p:txBody>
          <a:bodyPr wrap="square">
            <a:spAutoFit/>
          </a:bodyPr>
          <a:lstStyle/>
          <a:p>
            <a:pPr>
              <a:defRPr sz="1700" b="1">
                <a:solidFill>
                  <a:srgbClr val="213C57"/>
                </a:solidFill>
                <a:latin typeface="Aptos"/>
              </a:defRPr>
            </a:pPr>
            <a:r>
              <a:t>Search passages</a:t>
            </a:r>
          </a:p>
        </p:txBody>
      </p:sp>
      <p:sp>
        <p:nvSpPr>
          <p:cNvPr id="16" name="TextBox 15"/>
          <p:cNvSpPr txBox="1"/>
          <p:nvPr/>
        </p:nvSpPr>
        <p:spPr>
          <a:xfrm>
            <a:off x="10213848" y="2514600"/>
            <a:ext cx="3758183" cy="868680"/>
          </a:xfrm>
          <a:prstGeom prst="rect">
            <a:avLst/>
          </a:prstGeom>
          <a:noFill/>
        </p:spPr>
        <p:txBody>
          <a:bodyPr wrap="square">
            <a:spAutoFit/>
          </a:bodyPr>
          <a:lstStyle/>
          <a:p>
            <a:pPr>
              <a:defRPr sz="1300" b="0">
                <a:solidFill>
                  <a:srgbClr val="213C57"/>
                </a:solidFill>
                <a:latin typeface="Aptos"/>
              </a:defRPr>
            </a:pPr>
            <a:r>
              <a:t>Readable text + parent ID</a:t>
            </a:r>
          </a:p>
        </p:txBody>
      </p:sp>
      <p:sp>
        <p:nvSpPr>
          <p:cNvPr id="17" name="Rectangle 16"/>
          <p:cNvSpPr/>
          <p:nvPr/>
        </p:nvSpPr>
        <p:spPr>
          <a:xfrm>
            <a:off x="59436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4864608"/>
            <a:ext cx="3758183" cy="457200"/>
          </a:xfrm>
          <a:prstGeom prst="rect">
            <a:avLst/>
          </a:prstGeom>
          <a:noFill/>
        </p:spPr>
        <p:txBody>
          <a:bodyPr wrap="square">
            <a:spAutoFit/>
          </a:bodyPr>
          <a:lstStyle/>
          <a:p>
            <a:pPr>
              <a:defRPr sz="1700" b="1">
                <a:solidFill>
                  <a:srgbClr val="213C57"/>
                </a:solidFill>
                <a:latin typeface="Aptos"/>
              </a:defRPr>
            </a:pPr>
            <a:r>
              <a:t>Embedding</a:t>
            </a:r>
          </a:p>
        </p:txBody>
      </p:sp>
      <p:sp>
        <p:nvSpPr>
          <p:cNvPr id="19" name="TextBox 18"/>
          <p:cNvSpPr txBox="1"/>
          <p:nvPr/>
        </p:nvSpPr>
        <p:spPr>
          <a:xfrm>
            <a:off x="704088" y="5349240"/>
            <a:ext cx="3758183" cy="868680"/>
          </a:xfrm>
          <a:prstGeom prst="rect">
            <a:avLst/>
          </a:prstGeom>
          <a:noFill/>
        </p:spPr>
        <p:txBody>
          <a:bodyPr wrap="square">
            <a:spAutoFit/>
          </a:bodyPr>
          <a:lstStyle/>
          <a:p>
            <a:pPr>
              <a:defRPr sz="1300" b="0">
                <a:solidFill>
                  <a:srgbClr val="213C57"/>
                </a:solidFill>
                <a:latin typeface="Aptos"/>
              </a:defRPr>
            </a:pPr>
            <a:r>
              <a:t>Vector column in pgvector</a:t>
            </a:r>
          </a:p>
        </p:txBody>
      </p:sp>
      <p:cxnSp>
        <p:nvCxnSpPr>
          <p:cNvPr id="20" name="Connector 19"/>
          <p:cNvCxnSpPr/>
          <p:nvPr/>
        </p:nvCxnSpPr>
        <p:spPr>
          <a:xfrm>
            <a:off x="457200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4924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58968" y="4864608"/>
            <a:ext cx="3758183" cy="457200"/>
          </a:xfrm>
          <a:prstGeom prst="rect">
            <a:avLst/>
          </a:prstGeom>
          <a:noFill/>
        </p:spPr>
        <p:txBody>
          <a:bodyPr wrap="square">
            <a:spAutoFit/>
          </a:bodyPr>
          <a:lstStyle/>
          <a:p>
            <a:pPr>
              <a:defRPr sz="1700" b="1">
                <a:solidFill>
                  <a:srgbClr val="213C57"/>
                </a:solidFill>
                <a:latin typeface="Aptos"/>
              </a:defRPr>
            </a:pPr>
            <a:r>
              <a:t>Source metadata</a:t>
            </a:r>
          </a:p>
        </p:txBody>
      </p:sp>
      <p:sp>
        <p:nvSpPr>
          <p:cNvPr id="23" name="TextBox 22"/>
          <p:cNvSpPr txBox="1"/>
          <p:nvPr/>
        </p:nvSpPr>
        <p:spPr>
          <a:xfrm>
            <a:off x="5458968" y="5349240"/>
            <a:ext cx="3758183" cy="868680"/>
          </a:xfrm>
          <a:prstGeom prst="rect">
            <a:avLst/>
          </a:prstGeom>
          <a:noFill/>
        </p:spPr>
        <p:txBody>
          <a:bodyPr wrap="square">
            <a:spAutoFit/>
          </a:bodyPr>
          <a:lstStyle/>
          <a:p>
            <a:pPr>
              <a:defRPr sz="1300" b="0">
                <a:solidFill>
                  <a:srgbClr val="213C57"/>
                </a:solidFill>
                <a:latin typeface="Aptos"/>
              </a:defRPr>
            </a:pPr>
            <a:r>
              <a:t>Verified URLs + access</a:t>
            </a:r>
          </a:p>
        </p:txBody>
      </p:sp>
      <p:cxnSp>
        <p:nvCxnSpPr>
          <p:cNvPr id="24" name="Connector 23"/>
          <p:cNvCxnSpPr/>
          <p:nvPr/>
        </p:nvCxnSpPr>
        <p:spPr>
          <a:xfrm>
            <a:off x="932688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010412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13848" y="4864608"/>
            <a:ext cx="3758183" cy="457200"/>
          </a:xfrm>
          <a:prstGeom prst="rect">
            <a:avLst/>
          </a:prstGeom>
          <a:noFill/>
        </p:spPr>
        <p:txBody>
          <a:bodyPr wrap="square">
            <a:spAutoFit/>
          </a:bodyPr>
          <a:lstStyle/>
          <a:p>
            <a:pPr>
              <a:defRPr sz="1700" b="1">
                <a:solidFill>
                  <a:srgbClr val="213C57"/>
                </a:solidFill>
                <a:latin typeface="Aptos"/>
              </a:defRPr>
            </a:pPr>
            <a:r>
              <a:t>Retrieval results</a:t>
            </a:r>
          </a:p>
        </p:txBody>
      </p:sp>
      <p:sp>
        <p:nvSpPr>
          <p:cNvPr id="27" name="TextBox 26"/>
          <p:cNvSpPr txBox="1"/>
          <p:nvPr/>
        </p:nvSpPr>
        <p:spPr>
          <a:xfrm>
            <a:off x="10213848" y="5349240"/>
            <a:ext cx="3758183" cy="868680"/>
          </a:xfrm>
          <a:prstGeom prst="rect">
            <a:avLst/>
          </a:prstGeom>
          <a:noFill/>
        </p:spPr>
        <p:txBody>
          <a:bodyPr wrap="square">
            <a:spAutoFit/>
          </a:bodyPr>
          <a:lstStyle/>
          <a:p>
            <a:pPr>
              <a:defRPr sz="1300" b="0">
                <a:solidFill>
                  <a:srgbClr val="213C57"/>
                </a:solidFill>
                <a:latin typeface="Aptos"/>
              </a:defRPr>
            </a:pPr>
            <a:r>
              <a:t>Evidence IDs + excerpts</a:t>
            </a:r>
          </a:p>
        </p:txBody>
      </p:sp>
      <p:cxnSp>
        <p:nvCxnSpPr>
          <p:cNvPr id="28" name="Connector 27"/>
          <p:cNvCxnSpPr/>
          <p:nvPr/>
        </p:nvCxnSpPr>
        <p:spPr>
          <a:xfrm>
            <a:off x="12070080" y="3429000"/>
            <a:ext cx="0" cy="64008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560320" y="4069080"/>
            <a:ext cx="9509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560320" y="4069080"/>
            <a:ext cx="0" cy="68580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31520" y="6858000"/>
            <a:ext cx="13258800" cy="502920"/>
          </a:xfrm>
          <a:prstGeom prst="rect">
            <a:avLst/>
          </a:prstGeom>
          <a:noFill/>
        </p:spPr>
        <p:txBody>
          <a:bodyPr wrap="square">
            <a:spAutoFit/>
          </a:bodyPr>
          <a:lstStyle/>
          <a:p>
            <a:pPr>
              <a:defRPr sz="1200" b="0">
                <a:solidFill>
                  <a:srgbClr val="61768A"/>
                </a:solidFill>
                <a:latin typeface="Aptos"/>
              </a:defRPr>
            </a:pPr>
            <a:r>
              <a:t>Conceptual flow; logical stages may execute in parallel or be selected conditionally where indicated.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3716000" cy="594360"/>
          </a:xfrm>
          <a:prstGeom prst="rect">
            <a:avLst/>
          </a:prstGeom>
          <a:noFill/>
        </p:spPr>
        <p:txBody>
          <a:bodyPr wrap="square">
            <a:spAutoFit/>
          </a:bodyPr>
          <a:lstStyle/>
          <a:p>
            <a:pPr>
              <a:defRPr sz="2900" b="1">
                <a:solidFill>
                  <a:srgbClr val="213C57"/>
                </a:solidFill>
                <a:latin typeface="Aptos"/>
              </a:defRPr>
            </a:pPr>
            <a:r>
              <a:t>Hybrid retrieval workflow</a:t>
            </a:r>
          </a:p>
        </p:txBody>
      </p:sp>
      <p:sp>
        <p:nvSpPr>
          <p:cNvPr id="3" name="TextBox 2"/>
          <p:cNvSpPr txBox="1"/>
          <p:nvPr/>
        </p:nvSpPr>
        <p:spPr>
          <a:xfrm>
            <a:off x="502920" y="960120"/>
            <a:ext cx="13716000" cy="457200"/>
          </a:xfrm>
          <a:prstGeom prst="rect">
            <a:avLst/>
          </a:prstGeom>
          <a:noFill/>
        </p:spPr>
        <p:txBody>
          <a:bodyPr wrap="square">
            <a:spAutoFit/>
          </a:bodyPr>
          <a:lstStyle/>
          <a:p>
            <a:pPr>
              <a:defRPr sz="1500" b="0">
                <a:solidFill>
                  <a:srgbClr val="61768A"/>
                </a:solidFill>
                <a:latin typeface="Aptos"/>
              </a:defRPr>
            </a:pPr>
            <a:r>
              <a:t>Find relevant evidence; do not confuse similarity with a confirmed relationship.</a:t>
            </a:r>
          </a:p>
        </p:txBody>
      </p:sp>
      <p:sp>
        <p:nvSpPr>
          <p:cNvPr id="4" name="TextBox 3"/>
          <p:cNvSpPr txBox="1"/>
          <p:nvPr/>
        </p:nvSpPr>
        <p:spPr>
          <a:xfrm>
            <a:off x="502920" y="7863840"/>
            <a:ext cx="12801600" cy="228600"/>
          </a:xfrm>
          <a:prstGeom prst="rect">
            <a:avLst/>
          </a:prstGeom>
          <a:noFill/>
        </p:spPr>
        <p:txBody>
          <a:bodyPr wrap="square">
            <a:spAutoFit/>
          </a:bodyPr>
          <a:lstStyle/>
          <a:p>
            <a:pPr>
              <a:defRPr sz="1000" b="0">
                <a:solidFill>
                  <a:srgbClr val="61768A"/>
                </a:solidFill>
                <a:latin typeface="Aptos"/>
              </a:defRPr>
            </a:pPr>
            <a:r>
              <a:t>CONFIDENTIAL — INTERNAL DISCUSSION | Proposed architecture • All components editable</a:t>
            </a:r>
          </a:p>
        </p:txBody>
      </p:sp>
      <p:sp>
        <p:nvSpPr>
          <p:cNvPr id="5" name="TextBox 4"/>
          <p:cNvSpPr txBox="1"/>
          <p:nvPr/>
        </p:nvSpPr>
        <p:spPr>
          <a:xfrm>
            <a:off x="13533120" y="7863840"/>
            <a:ext cx="914400" cy="228600"/>
          </a:xfrm>
          <a:prstGeom prst="rect">
            <a:avLst/>
          </a:prstGeom>
          <a:noFill/>
        </p:spPr>
        <p:txBody>
          <a:bodyPr wrap="square">
            <a:spAutoFit/>
          </a:bodyPr>
          <a:lstStyle/>
          <a:p>
            <a:pPr>
              <a:defRPr sz="1000" b="0">
                <a:solidFill>
                  <a:srgbClr val="213C57"/>
                </a:solidFill>
                <a:latin typeface="Aptos"/>
              </a:defRPr>
            </a:pPr>
            <a:r>
              <a:t>6</a:t>
            </a:r>
          </a:p>
        </p:txBody>
      </p:sp>
      <p:sp>
        <p:nvSpPr>
          <p:cNvPr id="6" name="Rectangle 5"/>
          <p:cNvSpPr/>
          <p:nvPr/>
        </p:nvSpPr>
        <p:spPr>
          <a:xfrm>
            <a:off x="59436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9968"/>
            <a:ext cx="3758183" cy="457200"/>
          </a:xfrm>
          <a:prstGeom prst="rect">
            <a:avLst/>
          </a:prstGeom>
          <a:noFill/>
        </p:spPr>
        <p:txBody>
          <a:bodyPr wrap="square">
            <a:spAutoFit/>
          </a:bodyPr>
          <a:lstStyle/>
          <a:p>
            <a:pPr>
              <a:defRPr sz="1700" b="1">
                <a:solidFill>
                  <a:srgbClr val="213C57"/>
                </a:solidFill>
                <a:latin typeface="Aptos"/>
              </a:defRPr>
            </a:pPr>
            <a:r>
              <a:t>User question</a:t>
            </a:r>
          </a:p>
        </p:txBody>
      </p:sp>
      <p:sp>
        <p:nvSpPr>
          <p:cNvPr id="8" name="TextBox 7"/>
          <p:cNvSpPr txBox="1"/>
          <p:nvPr/>
        </p:nvSpPr>
        <p:spPr>
          <a:xfrm>
            <a:off x="704088" y="2514600"/>
            <a:ext cx="3758183" cy="868680"/>
          </a:xfrm>
          <a:prstGeom prst="rect">
            <a:avLst/>
          </a:prstGeom>
          <a:noFill/>
        </p:spPr>
        <p:txBody>
          <a:bodyPr wrap="square">
            <a:spAutoFit/>
          </a:bodyPr>
          <a:lstStyle/>
          <a:p>
            <a:pPr>
              <a:defRPr sz="1300" b="0">
                <a:solidFill>
                  <a:srgbClr val="213C57"/>
                </a:solidFill>
                <a:latin typeface="Aptos"/>
              </a:defRPr>
            </a:pPr>
            <a:r>
              <a:t>Conversation context</a:t>
            </a:r>
          </a:p>
        </p:txBody>
      </p:sp>
      <p:cxnSp>
        <p:nvCxnSpPr>
          <p:cNvPr id="9" name="Connector 8"/>
          <p:cNvCxnSpPr/>
          <p:nvPr/>
        </p:nvCxnSpPr>
        <p:spPr>
          <a:xfrm>
            <a:off x="457200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34924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58968" y="2029968"/>
            <a:ext cx="3758183" cy="457200"/>
          </a:xfrm>
          <a:prstGeom prst="rect">
            <a:avLst/>
          </a:prstGeom>
          <a:noFill/>
        </p:spPr>
        <p:txBody>
          <a:bodyPr wrap="square">
            <a:spAutoFit/>
          </a:bodyPr>
          <a:lstStyle/>
          <a:p>
            <a:pPr>
              <a:defRPr sz="1700" b="1">
                <a:solidFill>
                  <a:srgbClr val="213C57"/>
                </a:solidFill>
                <a:latin typeface="Aptos"/>
              </a:defRPr>
            </a:pPr>
            <a:r>
              <a:t>Query preparation</a:t>
            </a:r>
          </a:p>
        </p:txBody>
      </p:sp>
      <p:sp>
        <p:nvSpPr>
          <p:cNvPr id="12" name="TextBox 11"/>
          <p:cNvSpPr txBox="1"/>
          <p:nvPr/>
        </p:nvSpPr>
        <p:spPr>
          <a:xfrm>
            <a:off x="5458968" y="2514600"/>
            <a:ext cx="3758183" cy="868680"/>
          </a:xfrm>
          <a:prstGeom prst="rect">
            <a:avLst/>
          </a:prstGeom>
          <a:noFill/>
        </p:spPr>
        <p:txBody>
          <a:bodyPr wrap="square">
            <a:spAutoFit/>
          </a:bodyPr>
          <a:lstStyle/>
          <a:p>
            <a:pPr>
              <a:defRPr sz="1300" b="0">
                <a:solidFill>
                  <a:srgbClr val="213C57"/>
                </a:solidFill>
                <a:latin typeface="Aptos"/>
              </a:defRPr>
            </a:pPr>
            <a:r>
              <a:t>Resolve references</a:t>
            </a:r>
          </a:p>
        </p:txBody>
      </p:sp>
      <p:cxnSp>
        <p:nvCxnSpPr>
          <p:cNvPr id="13" name="Connector 12"/>
          <p:cNvCxnSpPr/>
          <p:nvPr/>
        </p:nvCxnSpPr>
        <p:spPr>
          <a:xfrm>
            <a:off x="932688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010412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13848" y="2029968"/>
            <a:ext cx="3758183" cy="457200"/>
          </a:xfrm>
          <a:prstGeom prst="rect">
            <a:avLst/>
          </a:prstGeom>
          <a:noFill/>
        </p:spPr>
        <p:txBody>
          <a:bodyPr wrap="square">
            <a:spAutoFit/>
          </a:bodyPr>
          <a:lstStyle/>
          <a:p>
            <a:pPr>
              <a:defRPr sz="1700" b="1">
                <a:solidFill>
                  <a:srgbClr val="213C57"/>
                </a:solidFill>
                <a:latin typeface="Aptos"/>
              </a:defRPr>
            </a:pPr>
            <a:r>
              <a:t>Parallel search</a:t>
            </a:r>
          </a:p>
        </p:txBody>
      </p:sp>
      <p:sp>
        <p:nvSpPr>
          <p:cNvPr id="16" name="TextBox 15"/>
          <p:cNvSpPr txBox="1"/>
          <p:nvPr/>
        </p:nvSpPr>
        <p:spPr>
          <a:xfrm>
            <a:off x="10213848" y="2514600"/>
            <a:ext cx="3758183" cy="868680"/>
          </a:xfrm>
          <a:prstGeom prst="rect">
            <a:avLst/>
          </a:prstGeom>
          <a:noFill/>
        </p:spPr>
        <p:txBody>
          <a:bodyPr wrap="square">
            <a:spAutoFit/>
          </a:bodyPr>
          <a:lstStyle/>
          <a:p>
            <a:pPr>
              <a:defRPr sz="1300" b="0">
                <a:solidFill>
                  <a:srgbClr val="213C57"/>
                </a:solidFill>
                <a:latin typeface="Aptos"/>
              </a:defRPr>
            </a:pPr>
            <a:r>
              <a:t>Exact terms + vectors</a:t>
            </a:r>
          </a:p>
        </p:txBody>
      </p:sp>
      <p:sp>
        <p:nvSpPr>
          <p:cNvPr id="17" name="Rectangle 16"/>
          <p:cNvSpPr/>
          <p:nvPr/>
        </p:nvSpPr>
        <p:spPr>
          <a:xfrm>
            <a:off x="59436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4864608"/>
            <a:ext cx="3758183" cy="457200"/>
          </a:xfrm>
          <a:prstGeom prst="rect">
            <a:avLst/>
          </a:prstGeom>
          <a:noFill/>
        </p:spPr>
        <p:txBody>
          <a:bodyPr wrap="square">
            <a:spAutoFit/>
          </a:bodyPr>
          <a:lstStyle/>
          <a:p>
            <a:pPr>
              <a:defRPr sz="1700" b="1">
                <a:solidFill>
                  <a:srgbClr val="213C57"/>
                </a:solidFill>
                <a:latin typeface="Aptos"/>
              </a:defRPr>
            </a:pPr>
            <a:r>
              <a:t>Access filtering</a:t>
            </a:r>
          </a:p>
        </p:txBody>
      </p:sp>
      <p:sp>
        <p:nvSpPr>
          <p:cNvPr id="19" name="TextBox 18"/>
          <p:cNvSpPr txBox="1"/>
          <p:nvPr/>
        </p:nvSpPr>
        <p:spPr>
          <a:xfrm>
            <a:off x="704088" y="5349240"/>
            <a:ext cx="3758183" cy="868680"/>
          </a:xfrm>
          <a:prstGeom prst="rect">
            <a:avLst/>
          </a:prstGeom>
          <a:noFill/>
        </p:spPr>
        <p:txBody>
          <a:bodyPr wrap="square">
            <a:spAutoFit/>
          </a:bodyPr>
          <a:lstStyle/>
          <a:p>
            <a:pPr>
              <a:defRPr sz="1300" b="0">
                <a:solidFill>
                  <a:srgbClr val="213C57"/>
                </a:solidFill>
                <a:latin typeface="Aptos"/>
              </a:defRPr>
            </a:pPr>
            <a:r>
              <a:t>Authorised records only</a:t>
            </a:r>
          </a:p>
        </p:txBody>
      </p:sp>
      <p:cxnSp>
        <p:nvCxnSpPr>
          <p:cNvPr id="20" name="Connector 19"/>
          <p:cNvCxnSpPr/>
          <p:nvPr/>
        </p:nvCxnSpPr>
        <p:spPr>
          <a:xfrm>
            <a:off x="457200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4924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58968" y="4864608"/>
            <a:ext cx="3758183" cy="457200"/>
          </a:xfrm>
          <a:prstGeom prst="rect">
            <a:avLst/>
          </a:prstGeom>
          <a:noFill/>
        </p:spPr>
        <p:txBody>
          <a:bodyPr wrap="square">
            <a:spAutoFit/>
          </a:bodyPr>
          <a:lstStyle/>
          <a:p>
            <a:pPr>
              <a:defRPr sz="1700" b="1">
                <a:solidFill>
                  <a:srgbClr val="213C57"/>
                </a:solidFill>
                <a:latin typeface="Aptos"/>
              </a:defRPr>
            </a:pPr>
            <a:r>
              <a:t>Evidence assembly</a:t>
            </a:r>
          </a:p>
        </p:txBody>
      </p:sp>
      <p:sp>
        <p:nvSpPr>
          <p:cNvPr id="23" name="TextBox 22"/>
          <p:cNvSpPr txBox="1"/>
          <p:nvPr/>
        </p:nvSpPr>
        <p:spPr>
          <a:xfrm>
            <a:off x="5458968" y="5349240"/>
            <a:ext cx="3758183" cy="868680"/>
          </a:xfrm>
          <a:prstGeom prst="rect">
            <a:avLst/>
          </a:prstGeom>
          <a:noFill/>
        </p:spPr>
        <p:txBody>
          <a:bodyPr wrap="square">
            <a:spAutoFit/>
          </a:bodyPr>
          <a:lstStyle/>
          <a:p>
            <a:pPr>
              <a:defRPr sz="1300" b="0">
                <a:solidFill>
                  <a:srgbClr val="213C57"/>
                </a:solidFill>
                <a:latin typeface="Aptos"/>
              </a:defRPr>
            </a:pPr>
            <a:r>
              <a:t>Descriptions + resolutions</a:t>
            </a:r>
          </a:p>
        </p:txBody>
      </p:sp>
      <p:cxnSp>
        <p:nvCxnSpPr>
          <p:cNvPr id="24" name="Connector 23"/>
          <p:cNvCxnSpPr/>
          <p:nvPr/>
        </p:nvCxnSpPr>
        <p:spPr>
          <a:xfrm>
            <a:off x="932688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010412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13848" y="4864608"/>
            <a:ext cx="3758183" cy="457200"/>
          </a:xfrm>
          <a:prstGeom prst="rect">
            <a:avLst/>
          </a:prstGeom>
          <a:noFill/>
        </p:spPr>
        <p:txBody>
          <a:bodyPr wrap="square">
            <a:spAutoFit/>
          </a:bodyPr>
          <a:lstStyle/>
          <a:p>
            <a:pPr>
              <a:defRPr sz="1700" b="1">
                <a:solidFill>
                  <a:srgbClr val="213C57"/>
                </a:solidFill>
                <a:latin typeface="Aptos"/>
              </a:defRPr>
            </a:pPr>
            <a:r>
              <a:t>Ranked results</a:t>
            </a:r>
          </a:p>
        </p:txBody>
      </p:sp>
      <p:sp>
        <p:nvSpPr>
          <p:cNvPr id="27" name="TextBox 26"/>
          <p:cNvSpPr txBox="1"/>
          <p:nvPr/>
        </p:nvSpPr>
        <p:spPr>
          <a:xfrm>
            <a:off x="10213848" y="5349240"/>
            <a:ext cx="3758183" cy="868680"/>
          </a:xfrm>
          <a:prstGeom prst="rect">
            <a:avLst/>
          </a:prstGeom>
          <a:noFill/>
        </p:spPr>
        <p:txBody>
          <a:bodyPr wrap="square">
            <a:spAutoFit/>
          </a:bodyPr>
          <a:lstStyle/>
          <a:p>
            <a:pPr>
              <a:defRPr sz="1300" b="0">
                <a:solidFill>
                  <a:srgbClr val="213C57"/>
                </a:solidFill>
                <a:latin typeface="Aptos"/>
              </a:defRPr>
            </a:pPr>
            <a:r>
              <a:t>Sources + excerpts</a:t>
            </a:r>
          </a:p>
        </p:txBody>
      </p:sp>
      <p:cxnSp>
        <p:nvCxnSpPr>
          <p:cNvPr id="28" name="Connector 27"/>
          <p:cNvCxnSpPr/>
          <p:nvPr/>
        </p:nvCxnSpPr>
        <p:spPr>
          <a:xfrm>
            <a:off x="12070080" y="3429000"/>
            <a:ext cx="0" cy="64008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560320" y="4069080"/>
            <a:ext cx="9509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560320" y="4069080"/>
            <a:ext cx="0" cy="68580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31520" y="6858000"/>
            <a:ext cx="13258800" cy="502920"/>
          </a:xfrm>
          <a:prstGeom prst="rect">
            <a:avLst/>
          </a:prstGeom>
          <a:noFill/>
        </p:spPr>
        <p:txBody>
          <a:bodyPr wrap="square">
            <a:spAutoFit/>
          </a:bodyPr>
          <a:lstStyle/>
          <a:p>
            <a:pPr>
              <a:defRPr sz="1200" b="0">
                <a:solidFill>
                  <a:srgbClr val="61768A"/>
                </a:solidFill>
                <a:latin typeface="Aptos"/>
              </a:defRPr>
            </a:pPr>
            <a:r>
              <a:t>Conceptual flow; logical stages may execute in parallel or be selected conditionally where indicated.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3716000" cy="594360"/>
          </a:xfrm>
          <a:prstGeom prst="rect">
            <a:avLst/>
          </a:prstGeom>
          <a:noFill/>
        </p:spPr>
        <p:txBody>
          <a:bodyPr wrap="square">
            <a:spAutoFit/>
          </a:bodyPr>
          <a:lstStyle/>
          <a:p>
            <a:pPr>
              <a:defRPr sz="2900" b="1">
                <a:solidFill>
                  <a:srgbClr val="213C57"/>
                </a:solidFill>
                <a:latin typeface="Aptos"/>
              </a:defRPr>
            </a:pPr>
            <a:r>
              <a:t>Follow-up question workflow</a:t>
            </a:r>
          </a:p>
        </p:txBody>
      </p:sp>
      <p:sp>
        <p:nvSpPr>
          <p:cNvPr id="3" name="TextBox 2"/>
          <p:cNvSpPr txBox="1"/>
          <p:nvPr/>
        </p:nvSpPr>
        <p:spPr>
          <a:xfrm>
            <a:off x="502920" y="960120"/>
            <a:ext cx="13716000" cy="457200"/>
          </a:xfrm>
          <a:prstGeom prst="rect">
            <a:avLst/>
          </a:prstGeom>
          <a:noFill/>
        </p:spPr>
        <p:txBody>
          <a:bodyPr wrap="square">
            <a:spAutoFit/>
          </a:bodyPr>
          <a:lstStyle/>
          <a:p>
            <a:pPr>
              <a:defRPr sz="1500" b="0">
                <a:solidFill>
                  <a:srgbClr val="61768A"/>
                </a:solidFill>
                <a:latin typeface="Aptos"/>
              </a:defRPr>
            </a:pPr>
            <a:r>
              <a:t>Choose the appropriate action rather than blindly repeating the previous search.</a:t>
            </a:r>
          </a:p>
        </p:txBody>
      </p:sp>
      <p:sp>
        <p:nvSpPr>
          <p:cNvPr id="4" name="TextBox 3"/>
          <p:cNvSpPr txBox="1"/>
          <p:nvPr/>
        </p:nvSpPr>
        <p:spPr>
          <a:xfrm>
            <a:off x="502920" y="7863840"/>
            <a:ext cx="12801600" cy="228600"/>
          </a:xfrm>
          <a:prstGeom prst="rect">
            <a:avLst/>
          </a:prstGeom>
          <a:noFill/>
        </p:spPr>
        <p:txBody>
          <a:bodyPr wrap="square">
            <a:spAutoFit/>
          </a:bodyPr>
          <a:lstStyle/>
          <a:p>
            <a:pPr>
              <a:defRPr sz="1000" b="0">
                <a:solidFill>
                  <a:srgbClr val="61768A"/>
                </a:solidFill>
                <a:latin typeface="Aptos"/>
              </a:defRPr>
            </a:pPr>
            <a:r>
              <a:t>CONFIDENTIAL — INTERNAL DISCUSSION | Proposed architecture • All components editable</a:t>
            </a:r>
          </a:p>
        </p:txBody>
      </p:sp>
      <p:sp>
        <p:nvSpPr>
          <p:cNvPr id="5" name="TextBox 4"/>
          <p:cNvSpPr txBox="1"/>
          <p:nvPr/>
        </p:nvSpPr>
        <p:spPr>
          <a:xfrm>
            <a:off x="13533120" y="7863840"/>
            <a:ext cx="914400" cy="228600"/>
          </a:xfrm>
          <a:prstGeom prst="rect">
            <a:avLst/>
          </a:prstGeom>
          <a:noFill/>
        </p:spPr>
        <p:txBody>
          <a:bodyPr wrap="square">
            <a:spAutoFit/>
          </a:bodyPr>
          <a:lstStyle/>
          <a:p>
            <a:pPr>
              <a:defRPr sz="1000" b="0">
                <a:solidFill>
                  <a:srgbClr val="213C57"/>
                </a:solidFill>
                <a:latin typeface="Aptos"/>
              </a:defRPr>
            </a:pPr>
            <a:r>
              <a:t>7</a:t>
            </a:r>
          </a:p>
        </p:txBody>
      </p:sp>
      <p:sp>
        <p:nvSpPr>
          <p:cNvPr id="6" name="Rectangle 5"/>
          <p:cNvSpPr/>
          <p:nvPr/>
        </p:nvSpPr>
        <p:spPr>
          <a:xfrm>
            <a:off x="59436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9968"/>
            <a:ext cx="3758183" cy="457200"/>
          </a:xfrm>
          <a:prstGeom prst="rect">
            <a:avLst/>
          </a:prstGeom>
          <a:noFill/>
        </p:spPr>
        <p:txBody>
          <a:bodyPr wrap="square">
            <a:spAutoFit/>
          </a:bodyPr>
          <a:lstStyle/>
          <a:p>
            <a:pPr>
              <a:defRPr sz="1700" b="1">
                <a:solidFill>
                  <a:srgbClr val="213C57"/>
                </a:solidFill>
                <a:latin typeface="Aptos"/>
              </a:defRPr>
            </a:pPr>
            <a:r>
              <a:t>User follow-up</a:t>
            </a:r>
          </a:p>
        </p:txBody>
      </p:sp>
      <p:sp>
        <p:nvSpPr>
          <p:cNvPr id="8" name="TextBox 7"/>
          <p:cNvSpPr txBox="1"/>
          <p:nvPr/>
        </p:nvSpPr>
        <p:spPr>
          <a:xfrm>
            <a:off x="704088" y="2514600"/>
            <a:ext cx="3758183" cy="868680"/>
          </a:xfrm>
          <a:prstGeom prst="rect">
            <a:avLst/>
          </a:prstGeom>
          <a:noFill/>
        </p:spPr>
        <p:txBody>
          <a:bodyPr wrap="square">
            <a:spAutoFit/>
          </a:bodyPr>
          <a:lstStyle/>
          <a:p>
            <a:pPr>
              <a:defRPr sz="1300" b="0">
                <a:solidFill>
                  <a:srgbClr val="213C57"/>
                </a:solidFill>
                <a:latin typeface="Aptos"/>
              </a:defRPr>
            </a:pPr>
            <a:r>
              <a:t>Load session context</a:t>
            </a:r>
          </a:p>
        </p:txBody>
      </p:sp>
      <p:cxnSp>
        <p:nvCxnSpPr>
          <p:cNvPr id="9" name="Connector 8"/>
          <p:cNvCxnSpPr/>
          <p:nvPr/>
        </p:nvCxnSpPr>
        <p:spPr>
          <a:xfrm>
            <a:off x="457200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34924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58968" y="2029968"/>
            <a:ext cx="3758183" cy="457200"/>
          </a:xfrm>
          <a:prstGeom prst="rect">
            <a:avLst/>
          </a:prstGeom>
          <a:noFill/>
        </p:spPr>
        <p:txBody>
          <a:bodyPr wrap="square">
            <a:spAutoFit/>
          </a:bodyPr>
          <a:lstStyle/>
          <a:p>
            <a:pPr>
              <a:defRPr sz="1700" b="1">
                <a:solidFill>
                  <a:srgbClr val="213C57"/>
                </a:solidFill>
                <a:latin typeface="Aptos"/>
              </a:defRPr>
            </a:pPr>
            <a:r>
              <a:t>Resolve intent</a:t>
            </a:r>
          </a:p>
        </p:txBody>
      </p:sp>
      <p:sp>
        <p:nvSpPr>
          <p:cNvPr id="12" name="TextBox 11"/>
          <p:cNvSpPr txBox="1"/>
          <p:nvPr/>
        </p:nvSpPr>
        <p:spPr>
          <a:xfrm>
            <a:off x="5458968" y="2514600"/>
            <a:ext cx="3758183" cy="868680"/>
          </a:xfrm>
          <a:prstGeom prst="rect">
            <a:avLst/>
          </a:prstGeom>
          <a:noFill/>
        </p:spPr>
        <p:txBody>
          <a:bodyPr wrap="square">
            <a:spAutoFit/>
          </a:bodyPr>
          <a:lstStyle/>
          <a:p>
            <a:pPr>
              <a:defRPr sz="1300" b="0">
                <a:solidFill>
                  <a:srgbClr val="213C57"/>
                </a:solidFill>
                <a:latin typeface="Aptos"/>
              </a:defRPr>
            </a:pPr>
            <a:r>
              <a:t>Existing record or new facts?</a:t>
            </a:r>
          </a:p>
        </p:txBody>
      </p:sp>
      <p:cxnSp>
        <p:nvCxnSpPr>
          <p:cNvPr id="13" name="Connector 12"/>
          <p:cNvCxnSpPr/>
          <p:nvPr/>
        </p:nvCxnSpPr>
        <p:spPr>
          <a:xfrm>
            <a:off x="932688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010412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13848" y="2029968"/>
            <a:ext cx="3758183" cy="457200"/>
          </a:xfrm>
          <a:prstGeom prst="rect">
            <a:avLst/>
          </a:prstGeom>
          <a:noFill/>
        </p:spPr>
        <p:txBody>
          <a:bodyPr wrap="square">
            <a:spAutoFit/>
          </a:bodyPr>
          <a:lstStyle/>
          <a:p>
            <a:pPr>
              <a:defRPr sz="1700" b="1">
                <a:solidFill>
                  <a:srgbClr val="213C57"/>
                </a:solidFill>
                <a:latin typeface="Aptos"/>
              </a:defRPr>
            </a:pPr>
            <a:r>
              <a:t>Known record lookup</a:t>
            </a:r>
          </a:p>
        </p:txBody>
      </p:sp>
      <p:sp>
        <p:nvSpPr>
          <p:cNvPr id="16" name="TextBox 15"/>
          <p:cNvSpPr txBox="1"/>
          <p:nvPr/>
        </p:nvSpPr>
        <p:spPr>
          <a:xfrm>
            <a:off x="10213848" y="2514600"/>
            <a:ext cx="3758183" cy="868680"/>
          </a:xfrm>
          <a:prstGeom prst="rect">
            <a:avLst/>
          </a:prstGeom>
          <a:noFill/>
        </p:spPr>
        <p:txBody>
          <a:bodyPr wrap="square">
            <a:spAutoFit/>
          </a:bodyPr>
          <a:lstStyle/>
          <a:p>
            <a:pPr>
              <a:defRPr sz="1300" b="0">
                <a:solidFill>
                  <a:srgbClr val="213C57"/>
                </a:solidFill>
                <a:latin typeface="Aptos"/>
              </a:defRPr>
            </a:pPr>
            <a:r>
              <a:t>“When did it occur?”</a:t>
            </a:r>
          </a:p>
        </p:txBody>
      </p:sp>
      <p:sp>
        <p:nvSpPr>
          <p:cNvPr id="17" name="Rectangle 16"/>
          <p:cNvSpPr/>
          <p:nvPr/>
        </p:nvSpPr>
        <p:spPr>
          <a:xfrm>
            <a:off x="59436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4864608"/>
            <a:ext cx="3758183" cy="457200"/>
          </a:xfrm>
          <a:prstGeom prst="rect">
            <a:avLst/>
          </a:prstGeom>
          <a:noFill/>
        </p:spPr>
        <p:txBody>
          <a:bodyPr wrap="square">
            <a:spAutoFit/>
          </a:bodyPr>
          <a:lstStyle/>
          <a:p>
            <a:pPr>
              <a:defRPr sz="1700" b="1">
                <a:solidFill>
                  <a:srgbClr val="213C57"/>
                </a:solidFill>
                <a:latin typeface="Aptos"/>
              </a:defRPr>
            </a:pPr>
            <a:r>
              <a:t>Revised retrieval</a:t>
            </a:r>
          </a:p>
        </p:txBody>
      </p:sp>
      <p:sp>
        <p:nvSpPr>
          <p:cNvPr id="19" name="TextBox 18"/>
          <p:cNvSpPr txBox="1"/>
          <p:nvPr/>
        </p:nvSpPr>
        <p:spPr>
          <a:xfrm>
            <a:off x="704088" y="5349240"/>
            <a:ext cx="3758183" cy="868680"/>
          </a:xfrm>
          <a:prstGeom prst="rect">
            <a:avLst/>
          </a:prstGeom>
          <a:noFill/>
        </p:spPr>
        <p:txBody>
          <a:bodyPr wrap="square">
            <a:spAutoFit/>
          </a:bodyPr>
          <a:lstStyle/>
          <a:p>
            <a:pPr>
              <a:defRPr sz="1300" b="0">
                <a:solidFill>
                  <a:srgbClr val="213C57"/>
                </a:solidFill>
                <a:latin typeface="Aptos"/>
              </a:defRPr>
            </a:pPr>
            <a:r>
              <a:t>“Only Ubuntu affected”</a:t>
            </a:r>
          </a:p>
        </p:txBody>
      </p:sp>
      <p:cxnSp>
        <p:nvCxnSpPr>
          <p:cNvPr id="20" name="Connector 19"/>
          <p:cNvCxnSpPr/>
          <p:nvPr/>
        </p:nvCxnSpPr>
        <p:spPr>
          <a:xfrm>
            <a:off x="457200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4924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58968" y="4864608"/>
            <a:ext cx="3758183" cy="457200"/>
          </a:xfrm>
          <a:prstGeom prst="rect">
            <a:avLst/>
          </a:prstGeom>
          <a:noFill/>
        </p:spPr>
        <p:txBody>
          <a:bodyPr wrap="square">
            <a:spAutoFit/>
          </a:bodyPr>
          <a:lstStyle/>
          <a:p>
            <a:pPr>
              <a:defRPr sz="1700" b="1">
                <a:solidFill>
                  <a:srgbClr val="213C57"/>
                </a:solidFill>
                <a:latin typeface="Aptos"/>
              </a:defRPr>
            </a:pPr>
            <a:r>
              <a:t>Evidence review</a:t>
            </a:r>
          </a:p>
        </p:txBody>
      </p:sp>
      <p:sp>
        <p:nvSpPr>
          <p:cNvPr id="23" name="TextBox 22"/>
          <p:cNvSpPr txBox="1"/>
          <p:nvPr/>
        </p:nvSpPr>
        <p:spPr>
          <a:xfrm>
            <a:off x="5458968" y="5349240"/>
            <a:ext cx="3758183" cy="868680"/>
          </a:xfrm>
          <a:prstGeom prst="rect">
            <a:avLst/>
          </a:prstGeom>
          <a:noFill/>
        </p:spPr>
        <p:txBody>
          <a:bodyPr wrap="square">
            <a:spAutoFit/>
          </a:bodyPr>
          <a:lstStyle/>
          <a:p>
            <a:pPr>
              <a:defRPr sz="1300" b="0">
                <a:solidFill>
                  <a:srgbClr val="213C57"/>
                </a:solidFill>
                <a:latin typeface="Aptos"/>
              </a:defRPr>
            </a:pPr>
            <a:r>
              <a:t>Conflicts / insufficiency</a:t>
            </a:r>
          </a:p>
        </p:txBody>
      </p:sp>
      <p:cxnSp>
        <p:nvCxnSpPr>
          <p:cNvPr id="24" name="Connector 23"/>
          <p:cNvCxnSpPr/>
          <p:nvPr/>
        </p:nvCxnSpPr>
        <p:spPr>
          <a:xfrm>
            <a:off x="932688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010412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13848" y="4864608"/>
            <a:ext cx="3758183" cy="457200"/>
          </a:xfrm>
          <a:prstGeom prst="rect">
            <a:avLst/>
          </a:prstGeom>
          <a:noFill/>
        </p:spPr>
        <p:txBody>
          <a:bodyPr wrap="square">
            <a:spAutoFit/>
          </a:bodyPr>
          <a:lstStyle/>
          <a:p>
            <a:pPr>
              <a:defRPr sz="1700" b="1">
                <a:solidFill>
                  <a:srgbClr val="213C57"/>
                </a:solidFill>
                <a:latin typeface="Aptos"/>
              </a:defRPr>
            </a:pPr>
            <a:r>
              <a:t>Cited answer</a:t>
            </a:r>
          </a:p>
        </p:txBody>
      </p:sp>
      <p:sp>
        <p:nvSpPr>
          <p:cNvPr id="27" name="TextBox 26"/>
          <p:cNvSpPr txBox="1"/>
          <p:nvPr/>
        </p:nvSpPr>
        <p:spPr>
          <a:xfrm>
            <a:off x="10213848" y="5349240"/>
            <a:ext cx="3758183" cy="868680"/>
          </a:xfrm>
          <a:prstGeom prst="rect">
            <a:avLst/>
          </a:prstGeom>
          <a:noFill/>
        </p:spPr>
        <p:txBody>
          <a:bodyPr wrap="square">
            <a:spAutoFit/>
          </a:bodyPr>
          <a:lstStyle/>
          <a:p>
            <a:pPr>
              <a:defRPr sz="1300" b="0">
                <a:solidFill>
                  <a:srgbClr val="213C57"/>
                </a:solidFill>
                <a:latin typeface="Aptos"/>
              </a:defRPr>
            </a:pPr>
            <a:r>
              <a:t>Clarify if ambiguous</a:t>
            </a:r>
          </a:p>
        </p:txBody>
      </p:sp>
      <p:cxnSp>
        <p:nvCxnSpPr>
          <p:cNvPr id="28" name="Connector 27"/>
          <p:cNvCxnSpPr/>
          <p:nvPr/>
        </p:nvCxnSpPr>
        <p:spPr>
          <a:xfrm>
            <a:off x="12070080" y="3429000"/>
            <a:ext cx="0" cy="64008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560320" y="4069080"/>
            <a:ext cx="9509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560320" y="4069080"/>
            <a:ext cx="0" cy="68580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31520" y="6858000"/>
            <a:ext cx="13258800" cy="502920"/>
          </a:xfrm>
          <a:prstGeom prst="rect">
            <a:avLst/>
          </a:prstGeom>
          <a:noFill/>
        </p:spPr>
        <p:txBody>
          <a:bodyPr wrap="square">
            <a:spAutoFit/>
          </a:bodyPr>
          <a:lstStyle/>
          <a:p>
            <a:pPr>
              <a:defRPr sz="1200" b="0">
                <a:solidFill>
                  <a:srgbClr val="61768A"/>
                </a:solidFill>
                <a:latin typeface="Aptos"/>
              </a:defRPr>
            </a:pPr>
            <a:r>
              <a:t>Conceptual flow; logical stages may execute in parallel or be selected conditionally where indicated.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3716000" cy="594360"/>
          </a:xfrm>
          <a:prstGeom prst="rect">
            <a:avLst/>
          </a:prstGeom>
          <a:noFill/>
        </p:spPr>
        <p:txBody>
          <a:bodyPr wrap="square">
            <a:spAutoFit/>
          </a:bodyPr>
          <a:lstStyle/>
          <a:p>
            <a:pPr>
              <a:defRPr sz="2900" b="1">
                <a:solidFill>
                  <a:srgbClr val="213C57"/>
                </a:solidFill>
                <a:latin typeface="Aptos"/>
              </a:defRPr>
            </a:pPr>
            <a:r>
              <a:t>Citation workflow</a:t>
            </a:r>
          </a:p>
        </p:txBody>
      </p:sp>
      <p:sp>
        <p:nvSpPr>
          <p:cNvPr id="3" name="TextBox 2"/>
          <p:cNvSpPr txBox="1"/>
          <p:nvPr/>
        </p:nvSpPr>
        <p:spPr>
          <a:xfrm>
            <a:off x="502920" y="960120"/>
            <a:ext cx="13716000" cy="457200"/>
          </a:xfrm>
          <a:prstGeom prst="rect">
            <a:avLst/>
          </a:prstGeom>
          <a:noFill/>
        </p:spPr>
        <p:txBody>
          <a:bodyPr wrap="square">
            <a:spAutoFit/>
          </a:bodyPr>
          <a:lstStyle/>
          <a:p>
            <a:pPr>
              <a:defRPr sz="1500" b="0">
                <a:solidFill>
                  <a:srgbClr val="61768A"/>
                </a:solidFill>
                <a:latin typeface="Aptos"/>
              </a:defRPr>
            </a:pPr>
            <a:r>
              <a:t>Every historical finding must remain traceable to a supporting record.</a:t>
            </a:r>
          </a:p>
        </p:txBody>
      </p:sp>
      <p:sp>
        <p:nvSpPr>
          <p:cNvPr id="4" name="TextBox 3"/>
          <p:cNvSpPr txBox="1"/>
          <p:nvPr/>
        </p:nvSpPr>
        <p:spPr>
          <a:xfrm>
            <a:off x="502920" y="7863840"/>
            <a:ext cx="12801600" cy="228600"/>
          </a:xfrm>
          <a:prstGeom prst="rect">
            <a:avLst/>
          </a:prstGeom>
          <a:noFill/>
        </p:spPr>
        <p:txBody>
          <a:bodyPr wrap="square">
            <a:spAutoFit/>
          </a:bodyPr>
          <a:lstStyle/>
          <a:p>
            <a:pPr>
              <a:defRPr sz="1000" b="0">
                <a:solidFill>
                  <a:srgbClr val="61768A"/>
                </a:solidFill>
                <a:latin typeface="Aptos"/>
              </a:defRPr>
            </a:pPr>
            <a:r>
              <a:t>CONFIDENTIAL — INTERNAL DISCUSSION | Proposed architecture • All components editable</a:t>
            </a:r>
          </a:p>
        </p:txBody>
      </p:sp>
      <p:sp>
        <p:nvSpPr>
          <p:cNvPr id="5" name="TextBox 4"/>
          <p:cNvSpPr txBox="1"/>
          <p:nvPr/>
        </p:nvSpPr>
        <p:spPr>
          <a:xfrm>
            <a:off x="13533120" y="7863840"/>
            <a:ext cx="914400" cy="228600"/>
          </a:xfrm>
          <a:prstGeom prst="rect">
            <a:avLst/>
          </a:prstGeom>
          <a:noFill/>
        </p:spPr>
        <p:txBody>
          <a:bodyPr wrap="square">
            <a:spAutoFit/>
          </a:bodyPr>
          <a:lstStyle/>
          <a:p>
            <a:pPr>
              <a:defRPr sz="1000" b="0">
                <a:solidFill>
                  <a:srgbClr val="213C57"/>
                </a:solidFill>
                <a:latin typeface="Aptos"/>
              </a:defRPr>
            </a:pPr>
            <a:r>
              <a:t>8</a:t>
            </a:r>
          </a:p>
        </p:txBody>
      </p:sp>
      <p:sp>
        <p:nvSpPr>
          <p:cNvPr id="6" name="Rectangle 5"/>
          <p:cNvSpPr/>
          <p:nvPr/>
        </p:nvSpPr>
        <p:spPr>
          <a:xfrm>
            <a:off x="59436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9968"/>
            <a:ext cx="3758183" cy="457200"/>
          </a:xfrm>
          <a:prstGeom prst="rect">
            <a:avLst/>
          </a:prstGeom>
          <a:noFill/>
        </p:spPr>
        <p:txBody>
          <a:bodyPr wrap="square">
            <a:spAutoFit/>
          </a:bodyPr>
          <a:lstStyle/>
          <a:p>
            <a:pPr>
              <a:defRPr sz="1700" b="1">
                <a:solidFill>
                  <a:srgbClr val="213C57"/>
                </a:solidFill>
                <a:latin typeface="Aptos"/>
              </a:defRPr>
            </a:pPr>
            <a:r>
              <a:t>Source import</a:t>
            </a:r>
          </a:p>
        </p:txBody>
      </p:sp>
      <p:sp>
        <p:nvSpPr>
          <p:cNvPr id="8" name="TextBox 7"/>
          <p:cNvSpPr txBox="1"/>
          <p:nvPr/>
        </p:nvSpPr>
        <p:spPr>
          <a:xfrm>
            <a:off x="704088" y="2514600"/>
            <a:ext cx="3758183" cy="868680"/>
          </a:xfrm>
          <a:prstGeom prst="rect">
            <a:avLst/>
          </a:prstGeom>
          <a:noFill/>
        </p:spPr>
        <p:txBody>
          <a:bodyPr wrap="square">
            <a:spAutoFit/>
          </a:bodyPr>
          <a:lstStyle/>
          <a:p>
            <a:pPr>
              <a:defRPr sz="1300" b="0">
                <a:solidFill>
                  <a:srgbClr val="213C57"/>
                </a:solidFill>
                <a:latin typeface="Aptos"/>
              </a:defRPr>
            </a:pPr>
            <a:r>
              <a:t>Store authoritative URL</a:t>
            </a:r>
          </a:p>
        </p:txBody>
      </p:sp>
      <p:cxnSp>
        <p:nvCxnSpPr>
          <p:cNvPr id="9" name="Connector 8"/>
          <p:cNvCxnSpPr/>
          <p:nvPr/>
        </p:nvCxnSpPr>
        <p:spPr>
          <a:xfrm>
            <a:off x="457200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34924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58968" y="2029968"/>
            <a:ext cx="3758183" cy="457200"/>
          </a:xfrm>
          <a:prstGeom prst="rect">
            <a:avLst/>
          </a:prstGeom>
          <a:noFill/>
        </p:spPr>
        <p:txBody>
          <a:bodyPr wrap="square">
            <a:spAutoFit/>
          </a:bodyPr>
          <a:lstStyle/>
          <a:p>
            <a:pPr>
              <a:defRPr sz="1700" b="1">
                <a:solidFill>
                  <a:srgbClr val="213C57"/>
                </a:solidFill>
                <a:latin typeface="Aptos"/>
              </a:defRPr>
            </a:pPr>
            <a:r>
              <a:t>Passage creation</a:t>
            </a:r>
          </a:p>
        </p:txBody>
      </p:sp>
      <p:sp>
        <p:nvSpPr>
          <p:cNvPr id="12" name="TextBox 11"/>
          <p:cNvSpPr txBox="1"/>
          <p:nvPr/>
        </p:nvSpPr>
        <p:spPr>
          <a:xfrm>
            <a:off x="5458968" y="2514600"/>
            <a:ext cx="3758183" cy="868680"/>
          </a:xfrm>
          <a:prstGeom prst="rect">
            <a:avLst/>
          </a:prstGeom>
          <a:noFill/>
        </p:spPr>
        <p:txBody>
          <a:bodyPr wrap="square">
            <a:spAutoFit/>
          </a:bodyPr>
          <a:lstStyle/>
          <a:p>
            <a:pPr>
              <a:defRPr sz="1300" b="0">
                <a:solidFill>
                  <a:srgbClr val="213C57"/>
                </a:solidFill>
                <a:latin typeface="Aptos"/>
              </a:defRPr>
            </a:pPr>
            <a:r>
              <a:t>Keep parent record ID</a:t>
            </a:r>
          </a:p>
        </p:txBody>
      </p:sp>
      <p:cxnSp>
        <p:nvCxnSpPr>
          <p:cNvPr id="13" name="Connector 12"/>
          <p:cNvCxnSpPr/>
          <p:nvPr/>
        </p:nvCxnSpPr>
        <p:spPr>
          <a:xfrm>
            <a:off x="932688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010412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13848" y="2029968"/>
            <a:ext cx="3758183" cy="457200"/>
          </a:xfrm>
          <a:prstGeom prst="rect">
            <a:avLst/>
          </a:prstGeom>
          <a:noFill/>
        </p:spPr>
        <p:txBody>
          <a:bodyPr wrap="square">
            <a:spAutoFit/>
          </a:bodyPr>
          <a:lstStyle/>
          <a:p>
            <a:pPr>
              <a:defRPr sz="1700" b="1">
                <a:solidFill>
                  <a:srgbClr val="213C57"/>
                </a:solidFill>
                <a:latin typeface="Aptos"/>
              </a:defRPr>
            </a:pPr>
            <a:r>
              <a:t>Retrieval</a:t>
            </a:r>
          </a:p>
        </p:txBody>
      </p:sp>
      <p:sp>
        <p:nvSpPr>
          <p:cNvPr id="16" name="TextBox 15"/>
          <p:cNvSpPr txBox="1"/>
          <p:nvPr/>
        </p:nvSpPr>
        <p:spPr>
          <a:xfrm>
            <a:off x="10213848" y="2514600"/>
            <a:ext cx="3758183" cy="868680"/>
          </a:xfrm>
          <a:prstGeom prst="rect">
            <a:avLst/>
          </a:prstGeom>
          <a:noFill/>
        </p:spPr>
        <p:txBody>
          <a:bodyPr wrap="square">
            <a:spAutoFit/>
          </a:bodyPr>
          <a:lstStyle/>
          <a:p>
            <a:pPr>
              <a:defRPr sz="1300" b="0">
                <a:solidFill>
                  <a:srgbClr val="213C57"/>
                </a:solidFill>
                <a:latin typeface="Aptos"/>
              </a:defRPr>
            </a:pPr>
            <a:r>
              <a:t>Assign evidence IDs</a:t>
            </a:r>
          </a:p>
        </p:txBody>
      </p:sp>
      <p:sp>
        <p:nvSpPr>
          <p:cNvPr id="17" name="Rectangle 16"/>
          <p:cNvSpPr/>
          <p:nvPr/>
        </p:nvSpPr>
        <p:spPr>
          <a:xfrm>
            <a:off x="59436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4864608"/>
            <a:ext cx="3758183" cy="457200"/>
          </a:xfrm>
          <a:prstGeom prst="rect">
            <a:avLst/>
          </a:prstGeom>
          <a:noFill/>
        </p:spPr>
        <p:txBody>
          <a:bodyPr wrap="square">
            <a:spAutoFit/>
          </a:bodyPr>
          <a:lstStyle/>
          <a:p>
            <a:pPr>
              <a:defRPr sz="1700" b="1">
                <a:solidFill>
                  <a:srgbClr val="213C57"/>
                </a:solidFill>
                <a:latin typeface="Aptos"/>
              </a:defRPr>
            </a:pPr>
            <a:r>
              <a:t>LLM answer</a:t>
            </a:r>
          </a:p>
        </p:txBody>
      </p:sp>
      <p:sp>
        <p:nvSpPr>
          <p:cNvPr id="19" name="TextBox 18"/>
          <p:cNvSpPr txBox="1"/>
          <p:nvPr/>
        </p:nvSpPr>
        <p:spPr>
          <a:xfrm>
            <a:off x="704088" y="5349240"/>
            <a:ext cx="3758183" cy="868680"/>
          </a:xfrm>
          <a:prstGeom prst="rect">
            <a:avLst/>
          </a:prstGeom>
          <a:noFill/>
        </p:spPr>
        <p:txBody>
          <a:bodyPr wrap="square">
            <a:spAutoFit/>
          </a:bodyPr>
          <a:lstStyle/>
          <a:p>
            <a:pPr>
              <a:defRPr sz="1300" b="0">
                <a:solidFill>
                  <a:srgbClr val="213C57"/>
                </a:solidFill>
                <a:latin typeface="Aptos"/>
              </a:defRPr>
            </a:pPr>
            <a:r>
              <a:t>Cite evidence IDs</a:t>
            </a:r>
          </a:p>
        </p:txBody>
      </p:sp>
      <p:cxnSp>
        <p:nvCxnSpPr>
          <p:cNvPr id="20" name="Connector 19"/>
          <p:cNvCxnSpPr/>
          <p:nvPr/>
        </p:nvCxnSpPr>
        <p:spPr>
          <a:xfrm>
            <a:off x="457200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4924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58968" y="4864608"/>
            <a:ext cx="3758183" cy="457200"/>
          </a:xfrm>
          <a:prstGeom prst="rect">
            <a:avLst/>
          </a:prstGeom>
          <a:noFill/>
        </p:spPr>
        <p:txBody>
          <a:bodyPr wrap="square">
            <a:spAutoFit/>
          </a:bodyPr>
          <a:lstStyle/>
          <a:p>
            <a:pPr>
              <a:defRPr sz="1700" b="1">
                <a:solidFill>
                  <a:srgbClr val="213C57"/>
                </a:solidFill>
                <a:latin typeface="Aptos"/>
              </a:defRPr>
            </a:pPr>
            <a:r>
              <a:t>Backend mapping</a:t>
            </a:r>
          </a:p>
        </p:txBody>
      </p:sp>
      <p:sp>
        <p:nvSpPr>
          <p:cNvPr id="23" name="TextBox 22"/>
          <p:cNvSpPr txBox="1"/>
          <p:nvPr/>
        </p:nvSpPr>
        <p:spPr>
          <a:xfrm>
            <a:off x="5458968" y="5349240"/>
            <a:ext cx="3758183" cy="868680"/>
          </a:xfrm>
          <a:prstGeom prst="rect">
            <a:avLst/>
          </a:prstGeom>
          <a:noFill/>
        </p:spPr>
        <p:txBody>
          <a:bodyPr wrap="square">
            <a:spAutoFit/>
          </a:bodyPr>
          <a:lstStyle/>
          <a:p>
            <a:pPr>
              <a:defRPr sz="1300" b="0">
                <a:solidFill>
                  <a:srgbClr val="213C57"/>
                </a:solidFill>
                <a:latin typeface="Aptos"/>
              </a:defRPr>
            </a:pPr>
            <a:r>
              <a:t>Validate IDs + attach URLs</a:t>
            </a:r>
          </a:p>
        </p:txBody>
      </p:sp>
      <p:cxnSp>
        <p:nvCxnSpPr>
          <p:cNvPr id="24" name="Connector 23"/>
          <p:cNvCxnSpPr/>
          <p:nvPr/>
        </p:nvCxnSpPr>
        <p:spPr>
          <a:xfrm>
            <a:off x="932688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010412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13848" y="4864608"/>
            <a:ext cx="3758183" cy="457200"/>
          </a:xfrm>
          <a:prstGeom prst="rect">
            <a:avLst/>
          </a:prstGeom>
          <a:noFill/>
        </p:spPr>
        <p:txBody>
          <a:bodyPr wrap="square">
            <a:spAutoFit/>
          </a:bodyPr>
          <a:lstStyle/>
          <a:p>
            <a:pPr>
              <a:defRPr sz="1700" b="1">
                <a:solidFill>
                  <a:srgbClr val="213C57"/>
                </a:solidFill>
                <a:latin typeface="Aptos"/>
              </a:defRPr>
            </a:pPr>
            <a:r>
              <a:t>Portal</a:t>
            </a:r>
          </a:p>
        </p:txBody>
      </p:sp>
      <p:sp>
        <p:nvSpPr>
          <p:cNvPr id="27" name="TextBox 26"/>
          <p:cNvSpPr txBox="1"/>
          <p:nvPr/>
        </p:nvSpPr>
        <p:spPr>
          <a:xfrm>
            <a:off x="10213848" y="5349240"/>
            <a:ext cx="3758183" cy="868680"/>
          </a:xfrm>
          <a:prstGeom prst="rect">
            <a:avLst/>
          </a:prstGeom>
          <a:noFill/>
        </p:spPr>
        <p:txBody>
          <a:bodyPr wrap="square">
            <a:spAutoFit/>
          </a:bodyPr>
          <a:lstStyle/>
          <a:p>
            <a:pPr>
              <a:defRPr sz="1300" b="0">
                <a:solidFill>
                  <a:srgbClr val="213C57"/>
                </a:solidFill>
                <a:latin typeface="Aptos"/>
              </a:defRPr>
            </a:pPr>
            <a:r>
              <a:t>Clickable links + excerpts</a:t>
            </a:r>
          </a:p>
        </p:txBody>
      </p:sp>
      <p:cxnSp>
        <p:nvCxnSpPr>
          <p:cNvPr id="28" name="Connector 27"/>
          <p:cNvCxnSpPr/>
          <p:nvPr/>
        </p:nvCxnSpPr>
        <p:spPr>
          <a:xfrm>
            <a:off x="12070080" y="3429000"/>
            <a:ext cx="0" cy="64008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560320" y="4069080"/>
            <a:ext cx="9509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560320" y="4069080"/>
            <a:ext cx="0" cy="68580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31520" y="6858000"/>
            <a:ext cx="13258800" cy="502920"/>
          </a:xfrm>
          <a:prstGeom prst="rect">
            <a:avLst/>
          </a:prstGeom>
          <a:noFill/>
        </p:spPr>
        <p:txBody>
          <a:bodyPr wrap="square">
            <a:spAutoFit/>
          </a:bodyPr>
          <a:lstStyle/>
          <a:p>
            <a:pPr>
              <a:defRPr sz="1200" b="0">
                <a:solidFill>
                  <a:srgbClr val="61768A"/>
                </a:solidFill>
                <a:latin typeface="Aptos"/>
              </a:defRPr>
            </a:pPr>
            <a:r>
              <a:t>Conceptual flow; logical stages may execute in parallel or be selected conditionally where indicated.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3716000" cy="594360"/>
          </a:xfrm>
          <a:prstGeom prst="rect">
            <a:avLst/>
          </a:prstGeom>
          <a:noFill/>
        </p:spPr>
        <p:txBody>
          <a:bodyPr wrap="square">
            <a:spAutoFit/>
          </a:bodyPr>
          <a:lstStyle/>
          <a:p>
            <a:pPr>
              <a:defRPr sz="2900" b="1">
                <a:solidFill>
                  <a:srgbClr val="213C57"/>
                </a:solidFill>
                <a:latin typeface="Aptos"/>
              </a:defRPr>
            </a:pPr>
            <a:r>
              <a:t>Shared AI gateway workflow</a:t>
            </a:r>
          </a:p>
        </p:txBody>
      </p:sp>
      <p:sp>
        <p:nvSpPr>
          <p:cNvPr id="3" name="TextBox 2"/>
          <p:cNvSpPr txBox="1"/>
          <p:nvPr/>
        </p:nvSpPr>
        <p:spPr>
          <a:xfrm>
            <a:off x="502920" y="960120"/>
            <a:ext cx="13716000" cy="457200"/>
          </a:xfrm>
          <a:prstGeom prst="rect">
            <a:avLst/>
          </a:prstGeom>
          <a:noFill/>
        </p:spPr>
        <p:txBody>
          <a:bodyPr wrap="square">
            <a:spAutoFit/>
          </a:bodyPr>
          <a:lstStyle/>
          <a:p>
            <a:pPr>
              <a:defRPr sz="1500" b="0">
                <a:solidFill>
                  <a:srgbClr val="61768A"/>
                </a:solidFill>
                <a:latin typeface="Aptos"/>
              </a:defRPr>
            </a:pPr>
            <a:r>
              <a:t>Initial production remains internal-only; product selection is approval-gated.</a:t>
            </a:r>
          </a:p>
        </p:txBody>
      </p:sp>
      <p:sp>
        <p:nvSpPr>
          <p:cNvPr id="4" name="TextBox 3"/>
          <p:cNvSpPr txBox="1"/>
          <p:nvPr/>
        </p:nvSpPr>
        <p:spPr>
          <a:xfrm>
            <a:off x="502920" y="7863840"/>
            <a:ext cx="12801600" cy="228600"/>
          </a:xfrm>
          <a:prstGeom prst="rect">
            <a:avLst/>
          </a:prstGeom>
          <a:noFill/>
        </p:spPr>
        <p:txBody>
          <a:bodyPr wrap="square">
            <a:spAutoFit/>
          </a:bodyPr>
          <a:lstStyle/>
          <a:p>
            <a:pPr>
              <a:defRPr sz="1000" b="0">
                <a:solidFill>
                  <a:srgbClr val="61768A"/>
                </a:solidFill>
                <a:latin typeface="Aptos"/>
              </a:defRPr>
            </a:pPr>
            <a:r>
              <a:t>CONFIDENTIAL — INTERNAL DISCUSSION | Proposed architecture • All components editable</a:t>
            </a:r>
          </a:p>
        </p:txBody>
      </p:sp>
      <p:sp>
        <p:nvSpPr>
          <p:cNvPr id="5" name="TextBox 4"/>
          <p:cNvSpPr txBox="1"/>
          <p:nvPr/>
        </p:nvSpPr>
        <p:spPr>
          <a:xfrm>
            <a:off x="13533120" y="7863840"/>
            <a:ext cx="914400" cy="228600"/>
          </a:xfrm>
          <a:prstGeom prst="rect">
            <a:avLst/>
          </a:prstGeom>
          <a:noFill/>
        </p:spPr>
        <p:txBody>
          <a:bodyPr wrap="square">
            <a:spAutoFit/>
          </a:bodyPr>
          <a:lstStyle/>
          <a:p>
            <a:pPr>
              <a:defRPr sz="1000" b="0">
                <a:solidFill>
                  <a:srgbClr val="213C57"/>
                </a:solidFill>
                <a:latin typeface="Aptos"/>
              </a:defRPr>
            </a:pPr>
            <a:r>
              <a:t>9</a:t>
            </a:r>
          </a:p>
        </p:txBody>
      </p:sp>
      <p:sp>
        <p:nvSpPr>
          <p:cNvPr id="6" name="Rectangle 5"/>
          <p:cNvSpPr/>
          <p:nvPr/>
        </p:nvSpPr>
        <p:spPr>
          <a:xfrm>
            <a:off x="59436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9968"/>
            <a:ext cx="3758183" cy="457200"/>
          </a:xfrm>
          <a:prstGeom prst="rect">
            <a:avLst/>
          </a:prstGeom>
          <a:noFill/>
        </p:spPr>
        <p:txBody>
          <a:bodyPr wrap="square">
            <a:spAutoFit/>
          </a:bodyPr>
          <a:lstStyle/>
          <a:p>
            <a:pPr>
              <a:defRPr sz="1700" b="1">
                <a:solidFill>
                  <a:srgbClr val="213C57"/>
                </a:solidFill>
                <a:latin typeface="Aptos"/>
              </a:defRPr>
            </a:pPr>
            <a:r>
              <a:t>Application A</a:t>
            </a:r>
          </a:p>
        </p:txBody>
      </p:sp>
      <p:sp>
        <p:nvSpPr>
          <p:cNvPr id="8" name="TextBox 7"/>
          <p:cNvSpPr txBox="1"/>
          <p:nvPr/>
        </p:nvSpPr>
        <p:spPr>
          <a:xfrm>
            <a:off x="704088" y="2514600"/>
            <a:ext cx="3758183" cy="868680"/>
          </a:xfrm>
          <a:prstGeom prst="rect">
            <a:avLst/>
          </a:prstGeom>
          <a:noFill/>
        </p:spPr>
        <p:txBody>
          <a:bodyPr wrap="square">
            <a:spAutoFit/>
          </a:bodyPr>
          <a:lstStyle/>
          <a:p>
            <a:pPr>
              <a:defRPr sz="1300" b="0">
                <a:solidFill>
                  <a:srgbClr val="213C57"/>
                </a:solidFill>
                <a:latin typeface="Aptos"/>
              </a:defRPr>
            </a:pPr>
            <a:r>
              <a:t>Ticket assistant</a:t>
            </a:r>
          </a:p>
        </p:txBody>
      </p:sp>
      <p:cxnSp>
        <p:nvCxnSpPr>
          <p:cNvPr id="9" name="Connector 8"/>
          <p:cNvCxnSpPr/>
          <p:nvPr/>
        </p:nvCxnSpPr>
        <p:spPr>
          <a:xfrm>
            <a:off x="457200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34924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58968" y="2029968"/>
            <a:ext cx="3758183" cy="457200"/>
          </a:xfrm>
          <a:prstGeom prst="rect">
            <a:avLst/>
          </a:prstGeom>
          <a:noFill/>
        </p:spPr>
        <p:txBody>
          <a:bodyPr wrap="square">
            <a:spAutoFit/>
          </a:bodyPr>
          <a:lstStyle/>
          <a:p>
            <a:pPr>
              <a:defRPr sz="1700" b="1">
                <a:solidFill>
                  <a:srgbClr val="213C57"/>
                </a:solidFill>
                <a:latin typeface="Aptos"/>
              </a:defRPr>
            </a:pPr>
            <a:r>
              <a:t>Application B</a:t>
            </a:r>
          </a:p>
        </p:txBody>
      </p:sp>
      <p:sp>
        <p:nvSpPr>
          <p:cNvPr id="12" name="TextBox 11"/>
          <p:cNvSpPr txBox="1"/>
          <p:nvPr/>
        </p:nvSpPr>
        <p:spPr>
          <a:xfrm>
            <a:off x="5458968" y="2514600"/>
            <a:ext cx="3758183" cy="868680"/>
          </a:xfrm>
          <a:prstGeom prst="rect">
            <a:avLst/>
          </a:prstGeom>
          <a:noFill/>
        </p:spPr>
        <p:txBody>
          <a:bodyPr wrap="square">
            <a:spAutoFit/>
          </a:bodyPr>
          <a:lstStyle/>
          <a:p>
            <a:pPr>
              <a:defRPr sz="1300" b="0">
                <a:solidFill>
                  <a:srgbClr val="213C57"/>
                </a:solidFill>
                <a:latin typeface="Aptos"/>
              </a:defRPr>
            </a:pPr>
            <a:r>
              <a:t>Future internal use case</a:t>
            </a:r>
          </a:p>
        </p:txBody>
      </p:sp>
      <p:cxnSp>
        <p:nvCxnSpPr>
          <p:cNvPr id="13" name="Connector 12"/>
          <p:cNvCxnSpPr/>
          <p:nvPr/>
        </p:nvCxnSpPr>
        <p:spPr>
          <a:xfrm>
            <a:off x="932688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010412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13848" y="2029968"/>
            <a:ext cx="3758183" cy="457200"/>
          </a:xfrm>
          <a:prstGeom prst="rect">
            <a:avLst/>
          </a:prstGeom>
          <a:noFill/>
        </p:spPr>
        <p:txBody>
          <a:bodyPr wrap="square">
            <a:spAutoFit/>
          </a:bodyPr>
          <a:lstStyle/>
          <a:p>
            <a:pPr>
              <a:defRPr sz="1700" b="1">
                <a:solidFill>
                  <a:srgbClr val="213C57"/>
                </a:solidFill>
                <a:latin typeface="Aptos"/>
              </a:defRPr>
            </a:pPr>
            <a:r>
              <a:t>Internal gateway</a:t>
            </a:r>
          </a:p>
        </p:txBody>
      </p:sp>
      <p:sp>
        <p:nvSpPr>
          <p:cNvPr id="16" name="TextBox 15"/>
          <p:cNvSpPr txBox="1"/>
          <p:nvPr/>
        </p:nvSpPr>
        <p:spPr>
          <a:xfrm>
            <a:off x="10213848" y="2514600"/>
            <a:ext cx="3758183" cy="868680"/>
          </a:xfrm>
          <a:prstGeom prst="rect">
            <a:avLst/>
          </a:prstGeom>
          <a:noFill/>
        </p:spPr>
        <p:txBody>
          <a:bodyPr wrap="square">
            <a:spAutoFit/>
          </a:bodyPr>
          <a:lstStyle/>
          <a:p>
            <a:pPr>
              <a:defRPr sz="1300" b="0">
                <a:solidFill>
                  <a:srgbClr val="213C57"/>
                </a:solidFill>
                <a:latin typeface="Aptos"/>
              </a:defRPr>
            </a:pPr>
            <a:r>
              <a:t>Identity + policy + routing</a:t>
            </a:r>
          </a:p>
        </p:txBody>
      </p:sp>
      <p:sp>
        <p:nvSpPr>
          <p:cNvPr id="17" name="Rectangle 16"/>
          <p:cNvSpPr/>
          <p:nvPr/>
        </p:nvSpPr>
        <p:spPr>
          <a:xfrm>
            <a:off x="59436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4864608"/>
            <a:ext cx="3758183" cy="457200"/>
          </a:xfrm>
          <a:prstGeom prst="rect">
            <a:avLst/>
          </a:prstGeom>
          <a:noFill/>
        </p:spPr>
        <p:txBody>
          <a:bodyPr wrap="square">
            <a:spAutoFit/>
          </a:bodyPr>
          <a:lstStyle/>
          <a:p>
            <a:pPr>
              <a:defRPr sz="1700" b="1">
                <a:solidFill>
                  <a:srgbClr val="213C57"/>
                </a:solidFill>
                <a:latin typeface="Aptos"/>
              </a:defRPr>
            </a:pPr>
            <a:r>
              <a:t>Llama endpoint</a:t>
            </a:r>
          </a:p>
        </p:txBody>
      </p:sp>
      <p:sp>
        <p:nvSpPr>
          <p:cNvPr id="19" name="TextBox 18"/>
          <p:cNvSpPr txBox="1"/>
          <p:nvPr/>
        </p:nvSpPr>
        <p:spPr>
          <a:xfrm>
            <a:off x="704088" y="5349240"/>
            <a:ext cx="3758183" cy="868680"/>
          </a:xfrm>
          <a:prstGeom prst="rect">
            <a:avLst/>
          </a:prstGeom>
          <a:noFill/>
        </p:spPr>
        <p:txBody>
          <a:bodyPr wrap="square">
            <a:spAutoFit/>
          </a:bodyPr>
          <a:lstStyle/>
          <a:p>
            <a:pPr>
              <a:defRPr sz="1300" b="0">
                <a:solidFill>
                  <a:srgbClr val="213C57"/>
                </a:solidFill>
                <a:latin typeface="Aptos"/>
              </a:defRPr>
            </a:pPr>
            <a:r>
              <a:t>vLLM model serving</a:t>
            </a:r>
          </a:p>
        </p:txBody>
      </p:sp>
      <p:cxnSp>
        <p:nvCxnSpPr>
          <p:cNvPr id="20" name="Connector 19"/>
          <p:cNvCxnSpPr/>
          <p:nvPr/>
        </p:nvCxnSpPr>
        <p:spPr>
          <a:xfrm>
            <a:off x="457200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4924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58968" y="4864608"/>
            <a:ext cx="3758183" cy="457200"/>
          </a:xfrm>
          <a:prstGeom prst="rect">
            <a:avLst/>
          </a:prstGeom>
          <a:noFill/>
        </p:spPr>
        <p:txBody>
          <a:bodyPr wrap="square">
            <a:spAutoFit/>
          </a:bodyPr>
          <a:lstStyle/>
          <a:p>
            <a:pPr>
              <a:defRPr sz="1700" b="1">
                <a:solidFill>
                  <a:srgbClr val="213C57"/>
                </a:solidFill>
                <a:latin typeface="Aptos"/>
              </a:defRPr>
            </a:pPr>
            <a:r>
              <a:t>Embedding endpoint</a:t>
            </a:r>
          </a:p>
        </p:txBody>
      </p:sp>
      <p:sp>
        <p:nvSpPr>
          <p:cNvPr id="23" name="TextBox 22"/>
          <p:cNvSpPr txBox="1"/>
          <p:nvPr/>
        </p:nvSpPr>
        <p:spPr>
          <a:xfrm>
            <a:off x="5458968" y="5349240"/>
            <a:ext cx="3758183" cy="868680"/>
          </a:xfrm>
          <a:prstGeom prst="rect">
            <a:avLst/>
          </a:prstGeom>
          <a:noFill/>
        </p:spPr>
        <p:txBody>
          <a:bodyPr wrap="square">
            <a:spAutoFit/>
          </a:bodyPr>
          <a:lstStyle/>
          <a:p>
            <a:pPr>
              <a:defRPr sz="1300" b="0">
                <a:solidFill>
                  <a:srgbClr val="213C57"/>
                </a:solidFill>
                <a:latin typeface="Aptos"/>
              </a:defRPr>
            </a:pPr>
            <a:r>
              <a:t>Internal text vectors</a:t>
            </a:r>
          </a:p>
        </p:txBody>
      </p:sp>
      <p:cxnSp>
        <p:nvCxnSpPr>
          <p:cNvPr id="24" name="Connector 23"/>
          <p:cNvCxnSpPr/>
          <p:nvPr/>
        </p:nvCxnSpPr>
        <p:spPr>
          <a:xfrm>
            <a:off x="932688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010412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13848" y="4864608"/>
            <a:ext cx="3758183" cy="457200"/>
          </a:xfrm>
          <a:prstGeom prst="rect">
            <a:avLst/>
          </a:prstGeom>
          <a:noFill/>
        </p:spPr>
        <p:txBody>
          <a:bodyPr wrap="square">
            <a:spAutoFit/>
          </a:bodyPr>
          <a:lstStyle/>
          <a:p>
            <a:pPr>
              <a:defRPr sz="1700" b="1">
                <a:solidFill>
                  <a:srgbClr val="213C57"/>
                </a:solidFill>
                <a:latin typeface="Aptos"/>
              </a:defRPr>
            </a:pPr>
            <a:r>
              <a:t>Future internal model</a:t>
            </a:r>
          </a:p>
        </p:txBody>
      </p:sp>
      <p:sp>
        <p:nvSpPr>
          <p:cNvPr id="27" name="TextBox 26"/>
          <p:cNvSpPr txBox="1"/>
          <p:nvPr/>
        </p:nvSpPr>
        <p:spPr>
          <a:xfrm>
            <a:off x="10213848" y="5349240"/>
            <a:ext cx="3758183" cy="868680"/>
          </a:xfrm>
          <a:prstGeom prst="rect">
            <a:avLst/>
          </a:prstGeom>
          <a:noFill/>
        </p:spPr>
        <p:txBody>
          <a:bodyPr wrap="square">
            <a:spAutoFit/>
          </a:bodyPr>
          <a:lstStyle/>
          <a:p>
            <a:pPr>
              <a:defRPr sz="1300" b="0">
                <a:solidFill>
                  <a:srgbClr val="213C57"/>
                </a:solidFill>
                <a:latin typeface="Aptos"/>
              </a:defRPr>
            </a:pPr>
            <a:r>
              <a:t>Approved fine-tuned model</a:t>
            </a:r>
          </a:p>
        </p:txBody>
      </p:sp>
      <p:cxnSp>
        <p:nvCxnSpPr>
          <p:cNvPr id="28" name="Connector 27"/>
          <p:cNvCxnSpPr/>
          <p:nvPr/>
        </p:nvCxnSpPr>
        <p:spPr>
          <a:xfrm>
            <a:off x="12070080" y="3429000"/>
            <a:ext cx="0" cy="64008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560320" y="4069080"/>
            <a:ext cx="9509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560320" y="4069080"/>
            <a:ext cx="0" cy="68580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31520" y="6858000"/>
            <a:ext cx="13258800" cy="502920"/>
          </a:xfrm>
          <a:prstGeom prst="rect">
            <a:avLst/>
          </a:prstGeom>
          <a:noFill/>
        </p:spPr>
        <p:txBody>
          <a:bodyPr wrap="square">
            <a:spAutoFit/>
          </a:bodyPr>
          <a:lstStyle/>
          <a:p>
            <a:pPr>
              <a:defRPr sz="1200" b="0">
                <a:solidFill>
                  <a:srgbClr val="61768A"/>
                </a:solidFill>
                <a:latin typeface="Aptos"/>
              </a:defRPr>
            </a:pPr>
            <a:r>
              <a:t>Conceptual flow; logical stages may execute in parallel or be selected conditionally where indicated.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3716000" cy="594360"/>
          </a:xfrm>
          <a:prstGeom prst="rect">
            <a:avLst/>
          </a:prstGeom>
          <a:noFill/>
        </p:spPr>
        <p:txBody>
          <a:bodyPr wrap="square">
            <a:spAutoFit/>
          </a:bodyPr>
          <a:lstStyle/>
          <a:p>
            <a:pPr>
              <a:defRPr sz="2900" b="1">
                <a:solidFill>
                  <a:srgbClr val="213C57"/>
                </a:solidFill>
                <a:latin typeface="Aptos"/>
              </a:defRPr>
            </a:pPr>
            <a:r>
              <a:t>Future model expansion</a:t>
            </a:r>
          </a:p>
        </p:txBody>
      </p:sp>
      <p:sp>
        <p:nvSpPr>
          <p:cNvPr id="3" name="TextBox 2"/>
          <p:cNvSpPr txBox="1"/>
          <p:nvPr/>
        </p:nvSpPr>
        <p:spPr>
          <a:xfrm>
            <a:off x="502920" y="960120"/>
            <a:ext cx="13716000" cy="457200"/>
          </a:xfrm>
          <a:prstGeom prst="rect">
            <a:avLst/>
          </a:prstGeom>
          <a:noFill/>
        </p:spPr>
        <p:txBody>
          <a:bodyPr wrap="square">
            <a:spAutoFit/>
          </a:bodyPr>
          <a:lstStyle/>
          <a:p>
            <a:pPr>
              <a:defRPr sz="1500" b="0">
                <a:solidFill>
                  <a:srgbClr val="61768A"/>
                </a:solidFill>
                <a:latin typeface="Aptos"/>
              </a:defRPr>
            </a:pPr>
            <a:r>
              <a:t>External options are not part of the initial production data path.</a:t>
            </a:r>
          </a:p>
        </p:txBody>
      </p:sp>
      <p:sp>
        <p:nvSpPr>
          <p:cNvPr id="4" name="TextBox 3"/>
          <p:cNvSpPr txBox="1"/>
          <p:nvPr/>
        </p:nvSpPr>
        <p:spPr>
          <a:xfrm>
            <a:off x="502920" y="7863840"/>
            <a:ext cx="12801600" cy="228600"/>
          </a:xfrm>
          <a:prstGeom prst="rect">
            <a:avLst/>
          </a:prstGeom>
          <a:noFill/>
        </p:spPr>
        <p:txBody>
          <a:bodyPr wrap="square">
            <a:spAutoFit/>
          </a:bodyPr>
          <a:lstStyle/>
          <a:p>
            <a:pPr>
              <a:defRPr sz="1000" b="0">
                <a:solidFill>
                  <a:srgbClr val="61768A"/>
                </a:solidFill>
                <a:latin typeface="Aptos"/>
              </a:defRPr>
            </a:pPr>
            <a:r>
              <a:t>CONFIDENTIAL — INTERNAL DISCUSSION | Proposed architecture • All components editable</a:t>
            </a:r>
          </a:p>
        </p:txBody>
      </p:sp>
      <p:sp>
        <p:nvSpPr>
          <p:cNvPr id="5" name="TextBox 4"/>
          <p:cNvSpPr txBox="1"/>
          <p:nvPr/>
        </p:nvSpPr>
        <p:spPr>
          <a:xfrm>
            <a:off x="13533120" y="7863840"/>
            <a:ext cx="914400" cy="228600"/>
          </a:xfrm>
          <a:prstGeom prst="rect">
            <a:avLst/>
          </a:prstGeom>
          <a:noFill/>
        </p:spPr>
        <p:txBody>
          <a:bodyPr wrap="square">
            <a:spAutoFit/>
          </a:bodyPr>
          <a:lstStyle/>
          <a:p>
            <a:pPr>
              <a:defRPr sz="1000" b="0">
                <a:solidFill>
                  <a:srgbClr val="213C57"/>
                </a:solidFill>
                <a:latin typeface="Aptos"/>
              </a:defRPr>
            </a:pPr>
            <a:r>
              <a:t>10</a:t>
            </a:r>
          </a:p>
        </p:txBody>
      </p:sp>
      <p:sp>
        <p:nvSpPr>
          <p:cNvPr id="6" name="Rectangle 5"/>
          <p:cNvSpPr/>
          <p:nvPr/>
        </p:nvSpPr>
        <p:spPr>
          <a:xfrm>
            <a:off x="59436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9968"/>
            <a:ext cx="3758183" cy="457200"/>
          </a:xfrm>
          <a:prstGeom prst="rect">
            <a:avLst/>
          </a:prstGeom>
          <a:noFill/>
        </p:spPr>
        <p:txBody>
          <a:bodyPr wrap="square">
            <a:spAutoFit/>
          </a:bodyPr>
          <a:lstStyle/>
          <a:p>
            <a:pPr>
              <a:defRPr sz="1700" b="1">
                <a:solidFill>
                  <a:srgbClr val="213C57"/>
                </a:solidFill>
                <a:latin typeface="Aptos"/>
              </a:defRPr>
            </a:pPr>
            <a:r>
              <a:t>Use-case approval</a:t>
            </a:r>
          </a:p>
        </p:txBody>
      </p:sp>
      <p:sp>
        <p:nvSpPr>
          <p:cNvPr id="8" name="TextBox 7"/>
          <p:cNvSpPr txBox="1"/>
          <p:nvPr/>
        </p:nvSpPr>
        <p:spPr>
          <a:xfrm>
            <a:off x="704088" y="2514600"/>
            <a:ext cx="3758183" cy="868680"/>
          </a:xfrm>
          <a:prstGeom prst="rect">
            <a:avLst/>
          </a:prstGeom>
          <a:noFill/>
        </p:spPr>
        <p:txBody>
          <a:bodyPr wrap="square">
            <a:spAutoFit/>
          </a:bodyPr>
          <a:lstStyle/>
          <a:p>
            <a:pPr>
              <a:defRPr sz="1300" b="0">
                <a:solidFill>
                  <a:srgbClr val="213C57"/>
                </a:solidFill>
                <a:latin typeface="Aptos"/>
              </a:defRPr>
            </a:pPr>
            <a:r>
              <a:t>Define task + constraints</a:t>
            </a:r>
          </a:p>
        </p:txBody>
      </p:sp>
      <p:cxnSp>
        <p:nvCxnSpPr>
          <p:cNvPr id="9" name="Connector 8"/>
          <p:cNvCxnSpPr/>
          <p:nvPr/>
        </p:nvCxnSpPr>
        <p:spPr>
          <a:xfrm>
            <a:off x="457200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34924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58968" y="2029968"/>
            <a:ext cx="3758183" cy="457200"/>
          </a:xfrm>
          <a:prstGeom prst="rect">
            <a:avLst/>
          </a:prstGeom>
          <a:noFill/>
        </p:spPr>
        <p:txBody>
          <a:bodyPr wrap="square">
            <a:spAutoFit/>
          </a:bodyPr>
          <a:lstStyle/>
          <a:p>
            <a:pPr>
              <a:defRPr sz="1700" b="1">
                <a:solidFill>
                  <a:srgbClr val="213C57"/>
                </a:solidFill>
                <a:latin typeface="Aptos"/>
              </a:defRPr>
            </a:pPr>
            <a:r>
              <a:t>Model evaluation</a:t>
            </a:r>
          </a:p>
        </p:txBody>
      </p:sp>
      <p:sp>
        <p:nvSpPr>
          <p:cNvPr id="12" name="TextBox 11"/>
          <p:cNvSpPr txBox="1"/>
          <p:nvPr/>
        </p:nvSpPr>
        <p:spPr>
          <a:xfrm>
            <a:off x="5458968" y="2514600"/>
            <a:ext cx="3758183" cy="868680"/>
          </a:xfrm>
          <a:prstGeom prst="rect">
            <a:avLst/>
          </a:prstGeom>
          <a:noFill/>
        </p:spPr>
        <p:txBody>
          <a:bodyPr wrap="square">
            <a:spAutoFit/>
          </a:bodyPr>
          <a:lstStyle/>
          <a:p>
            <a:pPr>
              <a:defRPr sz="1300" b="0">
                <a:solidFill>
                  <a:srgbClr val="213C57"/>
                </a:solidFill>
                <a:latin typeface="Aptos"/>
              </a:defRPr>
            </a:pPr>
            <a:r>
              <a:t>Quality + provenance</a:t>
            </a:r>
          </a:p>
        </p:txBody>
      </p:sp>
      <p:cxnSp>
        <p:nvCxnSpPr>
          <p:cNvPr id="13" name="Connector 12"/>
          <p:cNvCxnSpPr/>
          <p:nvPr/>
        </p:nvCxnSpPr>
        <p:spPr>
          <a:xfrm>
            <a:off x="932688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010412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13848" y="2029968"/>
            <a:ext cx="3758183" cy="457200"/>
          </a:xfrm>
          <a:prstGeom prst="rect">
            <a:avLst/>
          </a:prstGeom>
          <a:noFill/>
        </p:spPr>
        <p:txBody>
          <a:bodyPr wrap="square">
            <a:spAutoFit/>
          </a:bodyPr>
          <a:lstStyle/>
          <a:p>
            <a:pPr>
              <a:defRPr sz="1700" b="1">
                <a:solidFill>
                  <a:srgbClr val="213C57"/>
                </a:solidFill>
                <a:latin typeface="Aptos"/>
              </a:defRPr>
            </a:pPr>
            <a:r>
              <a:t>Security review</a:t>
            </a:r>
          </a:p>
        </p:txBody>
      </p:sp>
      <p:sp>
        <p:nvSpPr>
          <p:cNvPr id="16" name="TextBox 15"/>
          <p:cNvSpPr txBox="1"/>
          <p:nvPr/>
        </p:nvSpPr>
        <p:spPr>
          <a:xfrm>
            <a:off x="10213848" y="2514600"/>
            <a:ext cx="3758183" cy="868680"/>
          </a:xfrm>
          <a:prstGeom prst="rect">
            <a:avLst/>
          </a:prstGeom>
          <a:noFill/>
        </p:spPr>
        <p:txBody>
          <a:bodyPr wrap="square">
            <a:spAutoFit/>
          </a:bodyPr>
          <a:lstStyle/>
          <a:p>
            <a:pPr>
              <a:defRPr sz="1300" b="0">
                <a:solidFill>
                  <a:srgbClr val="213C57"/>
                </a:solidFill>
                <a:latin typeface="Aptos"/>
              </a:defRPr>
            </a:pPr>
            <a:r>
              <a:t>Licence + data policy</a:t>
            </a:r>
          </a:p>
        </p:txBody>
      </p:sp>
      <p:sp>
        <p:nvSpPr>
          <p:cNvPr id="17" name="Rectangle 16"/>
          <p:cNvSpPr/>
          <p:nvPr/>
        </p:nvSpPr>
        <p:spPr>
          <a:xfrm>
            <a:off x="59436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4864608"/>
            <a:ext cx="3758183" cy="457200"/>
          </a:xfrm>
          <a:prstGeom prst="rect">
            <a:avLst/>
          </a:prstGeom>
          <a:noFill/>
        </p:spPr>
        <p:txBody>
          <a:bodyPr wrap="square">
            <a:spAutoFit/>
          </a:bodyPr>
          <a:lstStyle/>
          <a:p>
            <a:pPr>
              <a:defRPr sz="1700" b="1">
                <a:solidFill>
                  <a:srgbClr val="213C57"/>
                </a:solidFill>
                <a:latin typeface="Aptos"/>
              </a:defRPr>
            </a:pPr>
            <a:r>
              <a:t>Endpoint deployment</a:t>
            </a:r>
          </a:p>
        </p:txBody>
      </p:sp>
      <p:sp>
        <p:nvSpPr>
          <p:cNvPr id="19" name="TextBox 18"/>
          <p:cNvSpPr txBox="1"/>
          <p:nvPr/>
        </p:nvSpPr>
        <p:spPr>
          <a:xfrm>
            <a:off x="704088" y="5349240"/>
            <a:ext cx="3758183" cy="868680"/>
          </a:xfrm>
          <a:prstGeom prst="rect">
            <a:avLst/>
          </a:prstGeom>
          <a:noFill/>
        </p:spPr>
        <p:txBody>
          <a:bodyPr wrap="square">
            <a:spAutoFit/>
          </a:bodyPr>
          <a:lstStyle/>
          <a:p>
            <a:pPr>
              <a:defRPr sz="1300" b="0">
                <a:solidFill>
                  <a:srgbClr val="213C57"/>
                </a:solidFill>
                <a:latin typeface="Aptos"/>
              </a:defRPr>
            </a:pPr>
            <a:r>
              <a:t>Internal model / fine-tune</a:t>
            </a:r>
          </a:p>
        </p:txBody>
      </p:sp>
      <p:cxnSp>
        <p:nvCxnSpPr>
          <p:cNvPr id="20" name="Connector 19"/>
          <p:cNvCxnSpPr/>
          <p:nvPr/>
        </p:nvCxnSpPr>
        <p:spPr>
          <a:xfrm>
            <a:off x="457200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4924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58968" y="4864608"/>
            <a:ext cx="3758183" cy="457200"/>
          </a:xfrm>
          <a:prstGeom prst="rect">
            <a:avLst/>
          </a:prstGeom>
          <a:noFill/>
        </p:spPr>
        <p:txBody>
          <a:bodyPr wrap="square">
            <a:spAutoFit/>
          </a:bodyPr>
          <a:lstStyle/>
          <a:p>
            <a:pPr>
              <a:defRPr sz="1700" b="1">
                <a:solidFill>
                  <a:srgbClr val="213C57"/>
                </a:solidFill>
                <a:latin typeface="Aptos"/>
              </a:defRPr>
            </a:pPr>
            <a:r>
              <a:t>Gateway registration</a:t>
            </a:r>
          </a:p>
        </p:txBody>
      </p:sp>
      <p:sp>
        <p:nvSpPr>
          <p:cNvPr id="23" name="TextBox 22"/>
          <p:cNvSpPr txBox="1"/>
          <p:nvPr/>
        </p:nvSpPr>
        <p:spPr>
          <a:xfrm>
            <a:off x="5458968" y="5349240"/>
            <a:ext cx="3758183" cy="868680"/>
          </a:xfrm>
          <a:prstGeom prst="rect">
            <a:avLst/>
          </a:prstGeom>
          <a:noFill/>
        </p:spPr>
        <p:txBody>
          <a:bodyPr wrap="square">
            <a:spAutoFit/>
          </a:bodyPr>
          <a:lstStyle/>
          <a:p>
            <a:pPr>
              <a:defRPr sz="1300" b="0">
                <a:solidFill>
                  <a:srgbClr val="213C57"/>
                </a:solidFill>
                <a:latin typeface="Aptos"/>
              </a:defRPr>
            </a:pPr>
            <a:r>
              <a:t>Versioned model alias</a:t>
            </a:r>
          </a:p>
        </p:txBody>
      </p:sp>
      <p:cxnSp>
        <p:nvCxnSpPr>
          <p:cNvPr id="24" name="Connector 23"/>
          <p:cNvCxnSpPr/>
          <p:nvPr/>
        </p:nvCxnSpPr>
        <p:spPr>
          <a:xfrm>
            <a:off x="932688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010412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13848" y="4864608"/>
            <a:ext cx="3758183" cy="457200"/>
          </a:xfrm>
          <a:prstGeom prst="rect">
            <a:avLst/>
          </a:prstGeom>
          <a:noFill/>
        </p:spPr>
        <p:txBody>
          <a:bodyPr wrap="square">
            <a:spAutoFit/>
          </a:bodyPr>
          <a:lstStyle/>
          <a:p>
            <a:pPr>
              <a:defRPr sz="1700" b="1">
                <a:solidFill>
                  <a:srgbClr val="213C57"/>
                </a:solidFill>
                <a:latin typeface="Aptos"/>
              </a:defRPr>
            </a:pPr>
            <a:r>
              <a:t>Optional external service</a:t>
            </a:r>
          </a:p>
        </p:txBody>
      </p:sp>
      <p:sp>
        <p:nvSpPr>
          <p:cNvPr id="27" name="TextBox 26"/>
          <p:cNvSpPr txBox="1"/>
          <p:nvPr/>
        </p:nvSpPr>
        <p:spPr>
          <a:xfrm>
            <a:off x="10213848" y="5349240"/>
            <a:ext cx="3758183" cy="868680"/>
          </a:xfrm>
          <a:prstGeom prst="rect">
            <a:avLst/>
          </a:prstGeom>
          <a:noFill/>
        </p:spPr>
        <p:txBody>
          <a:bodyPr wrap="square">
            <a:spAutoFit/>
          </a:bodyPr>
          <a:lstStyle/>
          <a:p>
            <a:pPr>
              <a:defRPr sz="1300" b="0">
                <a:solidFill>
                  <a:srgbClr val="213C57"/>
                </a:solidFill>
                <a:latin typeface="Aptos"/>
              </a:defRPr>
            </a:pPr>
            <a:r>
              <a:t>Bedrock / Vertex: separate approval</a:t>
            </a:r>
          </a:p>
        </p:txBody>
      </p:sp>
      <p:cxnSp>
        <p:nvCxnSpPr>
          <p:cNvPr id="28" name="Connector 27"/>
          <p:cNvCxnSpPr/>
          <p:nvPr/>
        </p:nvCxnSpPr>
        <p:spPr>
          <a:xfrm>
            <a:off x="12070080" y="3429000"/>
            <a:ext cx="0" cy="64008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560320" y="4069080"/>
            <a:ext cx="9509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560320" y="4069080"/>
            <a:ext cx="0" cy="68580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31520" y="6858000"/>
            <a:ext cx="13258800" cy="502920"/>
          </a:xfrm>
          <a:prstGeom prst="rect">
            <a:avLst/>
          </a:prstGeom>
          <a:noFill/>
        </p:spPr>
        <p:txBody>
          <a:bodyPr wrap="square">
            <a:spAutoFit/>
          </a:bodyPr>
          <a:lstStyle/>
          <a:p>
            <a:pPr>
              <a:defRPr sz="1200" b="0">
                <a:solidFill>
                  <a:srgbClr val="61768A"/>
                </a:solidFill>
                <a:latin typeface="Aptos"/>
              </a:defRPr>
            </a:pPr>
            <a:r>
              <a:t>Conceptual flow; logical stages may execute in parallel or be selected conditionally where indicated.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3716000" cy="594360"/>
          </a:xfrm>
          <a:prstGeom prst="rect">
            <a:avLst/>
          </a:prstGeom>
          <a:noFill/>
        </p:spPr>
        <p:txBody>
          <a:bodyPr wrap="square">
            <a:spAutoFit/>
          </a:bodyPr>
          <a:lstStyle/>
          <a:p>
            <a:pPr>
              <a:defRPr sz="2900" b="1">
                <a:solidFill>
                  <a:srgbClr val="213C57"/>
                </a:solidFill>
                <a:latin typeface="Aptos"/>
              </a:defRPr>
            </a:pPr>
            <a:r>
              <a:t>Security boundaries in the workflow</a:t>
            </a:r>
          </a:p>
        </p:txBody>
      </p:sp>
      <p:sp>
        <p:nvSpPr>
          <p:cNvPr id="3" name="TextBox 2"/>
          <p:cNvSpPr txBox="1"/>
          <p:nvPr/>
        </p:nvSpPr>
        <p:spPr>
          <a:xfrm>
            <a:off x="502920" y="960120"/>
            <a:ext cx="13716000" cy="457200"/>
          </a:xfrm>
          <a:prstGeom prst="rect">
            <a:avLst/>
          </a:prstGeom>
          <a:noFill/>
        </p:spPr>
        <p:txBody>
          <a:bodyPr wrap="square">
            <a:spAutoFit/>
          </a:bodyPr>
          <a:lstStyle/>
          <a:p>
            <a:pPr>
              <a:defRPr sz="1500" b="0">
                <a:solidFill>
                  <a:srgbClr val="61768A"/>
                </a:solidFill>
                <a:latin typeface="Aptos"/>
              </a:defRPr>
            </a:pPr>
            <a:r>
              <a:t>Internal hosting is necessary, but not sufficient.</a:t>
            </a:r>
          </a:p>
        </p:txBody>
      </p:sp>
      <p:sp>
        <p:nvSpPr>
          <p:cNvPr id="4" name="TextBox 3"/>
          <p:cNvSpPr txBox="1"/>
          <p:nvPr/>
        </p:nvSpPr>
        <p:spPr>
          <a:xfrm>
            <a:off x="502920" y="7863840"/>
            <a:ext cx="12801600" cy="228600"/>
          </a:xfrm>
          <a:prstGeom prst="rect">
            <a:avLst/>
          </a:prstGeom>
          <a:noFill/>
        </p:spPr>
        <p:txBody>
          <a:bodyPr wrap="square">
            <a:spAutoFit/>
          </a:bodyPr>
          <a:lstStyle/>
          <a:p>
            <a:pPr>
              <a:defRPr sz="1000" b="0">
                <a:solidFill>
                  <a:srgbClr val="61768A"/>
                </a:solidFill>
                <a:latin typeface="Aptos"/>
              </a:defRPr>
            </a:pPr>
            <a:r>
              <a:t>CONFIDENTIAL — INTERNAL DISCUSSION | Proposed architecture • All components editable</a:t>
            </a:r>
          </a:p>
        </p:txBody>
      </p:sp>
      <p:sp>
        <p:nvSpPr>
          <p:cNvPr id="5" name="TextBox 4"/>
          <p:cNvSpPr txBox="1"/>
          <p:nvPr/>
        </p:nvSpPr>
        <p:spPr>
          <a:xfrm>
            <a:off x="13533120" y="7863840"/>
            <a:ext cx="914400" cy="228600"/>
          </a:xfrm>
          <a:prstGeom prst="rect">
            <a:avLst/>
          </a:prstGeom>
          <a:noFill/>
        </p:spPr>
        <p:txBody>
          <a:bodyPr wrap="square">
            <a:spAutoFit/>
          </a:bodyPr>
          <a:lstStyle/>
          <a:p>
            <a:pPr>
              <a:defRPr sz="1000" b="0">
                <a:solidFill>
                  <a:srgbClr val="213C57"/>
                </a:solidFill>
                <a:latin typeface="Aptos"/>
              </a:defRPr>
            </a:pPr>
            <a:r>
              <a:t>11</a:t>
            </a:r>
          </a:p>
        </p:txBody>
      </p:sp>
      <p:sp>
        <p:nvSpPr>
          <p:cNvPr id="6" name="Rectangle 5"/>
          <p:cNvSpPr/>
          <p:nvPr/>
        </p:nvSpPr>
        <p:spPr>
          <a:xfrm>
            <a:off x="59436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9968"/>
            <a:ext cx="3758183" cy="457200"/>
          </a:xfrm>
          <a:prstGeom prst="rect">
            <a:avLst/>
          </a:prstGeom>
          <a:noFill/>
        </p:spPr>
        <p:txBody>
          <a:bodyPr wrap="square">
            <a:spAutoFit/>
          </a:bodyPr>
          <a:lstStyle/>
          <a:p>
            <a:pPr>
              <a:defRPr sz="1700" b="1">
                <a:solidFill>
                  <a:srgbClr val="213C57"/>
                </a:solidFill>
                <a:latin typeface="Aptos"/>
              </a:defRPr>
            </a:pPr>
            <a:r>
              <a:t>User identity</a:t>
            </a:r>
          </a:p>
        </p:txBody>
      </p:sp>
      <p:sp>
        <p:nvSpPr>
          <p:cNvPr id="8" name="TextBox 7"/>
          <p:cNvSpPr txBox="1"/>
          <p:nvPr/>
        </p:nvSpPr>
        <p:spPr>
          <a:xfrm>
            <a:off x="704088" y="2514600"/>
            <a:ext cx="3758183" cy="868680"/>
          </a:xfrm>
          <a:prstGeom prst="rect">
            <a:avLst/>
          </a:prstGeom>
          <a:noFill/>
        </p:spPr>
        <p:txBody>
          <a:bodyPr wrap="square">
            <a:spAutoFit/>
          </a:bodyPr>
          <a:lstStyle/>
          <a:p>
            <a:pPr>
              <a:defRPr sz="1300" b="0">
                <a:solidFill>
                  <a:srgbClr val="213C57"/>
                </a:solidFill>
                <a:latin typeface="Aptos"/>
              </a:defRPr>
            </a:pPr>
            <a:r>
              <a:t>Organisational sign-in</a:t>
            </a:r>
          </a:p>
        </p:txBody>
      </p:sp>
      <p:cxnSp>
        <p:nvCxnSpPr>
          <p:cNvPr id="9" name="Connector 8"/>
          <p:cNvCxnSpPr/>
          <p:nvPr/>
        </p:nvCxnSpPr>
        <p:spPr>
          <a:xfrm>
            <a:off x="457200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34924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58968" y="2029968"/>
            <a:ext cx="3758183" cy="457200"/>
          </a:xfrm>
          <a:prstGeom prst="rect">
            <a:avLst/>
          </a:prstGeom>
          <a:noFill/>
        </p:spPr>
        <p:txBody>
          <a:bodyPr wrap="square">
            <a:spAutoFit/>
          </a:bodyPr>
          <a:lstStyle/>
          <a:p>
            <a:pPr>
              <a:defRPr sz="1700" b="1">
                <a:solidFill>
                  <a:srgbClr val="213C57"/>
                </a:solidFill>
                <a:latin typeface="Aptos"/>
              </a:defRPr>
            </a:pPr>
            <a:r>
              <a:t>Backend access</a:t>
            </a:r>
          </a:p>
        </p:txBody>
      </p:sp>
      <p:sp>
        <p:nvSpPr>
          <p:cNvPr id="12" name="TextBox 11"/>
          <p:cNvSpPr txBox="1"/>
          <p:nvPr/>
        </p:nvSpPr>
        <p:spPr>
          <a:xfrm>
            <a:off x="5458968" y="2514600"/>
            <a:ext cx="3758183" cy="868680"/>
          </a:xfrm>
          <a:prstGeom prst="rect">
            <a:avLst/>
          </a:prstGeom>
          <a:noFill/>
        </p:spPr>
        <p:txBody>
          <a:bodyPr wrap="square">
            <a:spAutoFit/>
          </a:bodyPr>
          <a:lstStyle/>
          <a:p>
            <a:pPr>
              <a:defRPr sz="1300" b="0">
                <a:solidFill>
                  <a:srgbClr val="213C57"/>
                </a:solidFill>
                <a:latin typeface="Aptos"/>
              </a:defRPr>
            </a:pPr>
            <a:r>
              <a:t>Record permissions</a:t>
            </a:r>
          </a:p>
        </p:txBody>
      </p:sp>
      <p:cxnSp>
        <p:nvCxnSpPr>
          <p:cNvPr id="13" name="Connector 12"/>
          <p:cNvCxnSpPr/>
          <p:nvPr/>
        </p:nvCxnSpPr>
        <p:spPr>
          <a:xfrm>
            <a:off x="932688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010412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13848" y="2029968"/>
            <a:ext cx="3758183" cy="457200"/>
          </a:xfrm>
          <a:prstGeom prst="rect">
            <a:avLst/>
          </a:prstGeom>
          <a:noFill/>
        </p:spPr>
        <p:txBody>
          <a:bodyPr wrap="square">
            <a:spAutoFit/>
          </a:bodyPr>
          <a:lstStyle/>
          <a:p>
            <a:pPr>
              <a:defRPr sz="1700" b="1">
                <a:solidFill>
                  <a:srgbClr val="213C57"/>
                </a:solidFill>
                <a:latin typeface="Aptos"/>
              </a:defRPr>
            </a:pPr>
            <a:r>
              <a:t>Gateway policy</a:t>
            </a:r>
          </a:p>
        </p:txBody>
      </p:sp>
      <p:sp>
        <p:nvSpPr>
          <p:cNvPr id="16" name="TextBox 15"/>
          <p:cNvSpPr txBox="1"/>
          <p:nvPr/>
        </p:nvSpPr>
        <p:spPr>
          <a:xfrm>
            <a:off x="10213848" y="2514600"/>
            <a:ext cx="3758183" cy="868680"/>
          </a:xfrm>
          <a:prstGeom prst="rect">
            <a:avLst/>
          </a:prstGeom>
          <a:noFill/>
        </p:spPr>
        <p:txBody>
          <a:bodyPr wrap="square">
            <a:spAutoFit/>
          </a:bodyPr>
          <a:lstStyle/>
          <a:p>
            <a:pPr>
              <a:defRPr sz="1300" b="0">
                <a:solidFill>
                  <a:srgbClr val="213C57"/>
                </a:solidFill>
                <a:latin typeface="Aptos"/>
              </a:defRPr>
            </a:pPr>
            <a:r>
              <a:t>Approved model allowlist</a:t>
            </a:r>
          </a:p>
        </p:txBody>
      </p:sp>
      <p:sp>
        <p:nvSpPr>
          <p:cNvPr id="17" name="Rectangle 16"/>
          <p:cNvSpPr/>
          <p:nvPr/>
        </p:nvSpPr>
        <p:spPr>
          <a:xfrm>
            <a:off x="59436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4864608"/>
            <a:ext cx="3758183" cy="457200"/>
          </a:xfrm>
          <a:prstGeom prst="rect">
            <a:avLst/>
          </a:prstGeom>
          <a:noFill/>
        </p:spPr>
        <p:txBody>
          <a:bodyPr wrap="square">
            <a:spAutoFit/>
          </a:bodyPr>
          <a:lstStyle/>
          <a:p>
            <a:pPr>
              <a:defRPr sz="1700" b="1">
                <a:solidFill>
                  <a:srgbClr val="213C57"/>
                </a:solidFill>
                <a:latin typeface="Aptos"/>
              </a:defRPr>
            </a:pPr>
            <a:r>
              <a:t>Private endpoints</a:t>
            </a:r>
          </a:p>
        </p:txBody>
      </p:sp>
      <p:sp>
        <p:nvSpPr>
          <p:cNvPr id="19" name="TextBox 18"/>
          <p:cNvSpPr txBox="1"/>
          <p:nvPr/>
        </p:nvSpPr>
        <p:spPr>
          <a:xfrm>
            <a:off x="704088" y="5349240"/>
            <a:ext cx="3758183" cy="868680"/>
          </a:xfrm>
          <a:prstGeom prst="rect">
            <a:avLst/>
          </a:prstGeom>
          <a:noFill/>
        </p:spPr>
        <p:txBody>
          <a:bodyPr wrap="square">
            <a:spAutoFit/>
          </a:bodyPr>
          <a:lstStyle/>
          <a:p>
            <a:pPr>
              <a:defRPr sz="1300" b="0">
                <a:solidFill>
                  <a:srgbClr val="213C57"/>
                </a:solidFill>
                <a:latin typeface="Aptos"/>
              </a:defRPr>
            </a:pPr>
            <a:r>
              <a:t>Restrict direct access</a:t>
            </a:r>
          </a:p>
        </p:txBody>
      </p:sp>
      <p:cxnSp>
        <p:nvCxnSpPr>
          <p:cNvPr id="20" name="Connector 19"/>
          <p:cNvCxnSpPr/>
          <p:nvPr/>
        </p:nvCxnSpPr>
        <p:spPr>
          <a:xfrm>
            <a:off x="457200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4924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58968" y="4864608"/>
            <a:ext cx="3758183" cy="457200"/>
          </a:xfrm>
          <a:prstGeom prst="rect">
            <a:avLst/>
          </a:prstGeom>
          <a:noFill/>
        </p:spPr>
        <p:txBody>
          <a:bodyPr wrap="square">
            <a:spAutoFit/>
          </a:bodyPr>
          <a:lstStyle/>
          <a:p>
            <a:pPr>
              <a:defRPr sz="1700" b="1">
                <a:solidFill>
                  <a:srgbClr val="213C57"/>
                </a:solidFill>
                <a:latin typeface="Aptos"/>
              </a:defRPr>
            </a:pPr>
            <a:r>
              <a:t>Data protection</a:t>
            </a:r>
          </a:p>
        </p:txBody>
      </p:sp>
      <p:sp>
        <p:nvSpPr>
          <p:cNvPr id="23" name="TextBox 22"/>
          <p:cNvSpPr txBox="1"/>
          <p:nvPr/>
        </p:nvSpPr>
        <p:spPr>
          <a:xfrm>
            <a:off x="5458968" y="5349240"/>
            <a:ext cx="3758183" cy="868680"/>
          </a:xfrm>
          <a:prstGeom prst="rect">
            <a:avLst/>
          </a:prstGeom>
          <a:noFill/>
        </p:spPr>
        <p:txBody>
          <a:bodyPr wrap="square">
            <a:spAutoFit/>
          </a:bodyPr>
          <a:lstStyle/>
          <a:p>
            <a:pPr>
              <a:defRPr sz="1300" b="0">
                <a:solidFill>
                  <a:srgbClr val="213C57"/>
                </a:solidFill>
                <a:latin typeface="Aptos"/>
              </a:defRPr>
            </a:pPr>
            <a:r>
              <a:t>Secrets + safe logging</a:t>
            </a:r>
          </a:p>
        </p:txBody>
      </p:sp>
      <p:cxnSp>
        <p:nvCxnSpPr>
          <p:cNvPr id="24" name="Connector 23"/>
          <p:cNvCxnSpPr/>
          <p:nvPr/>
        </p:nvCxnSpPr>
        <p:spPr>
          <a:xfrm>
            <a:off x="932688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010412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13848" y="4864608"/>
            <a:ext cx="3758183" cy="457200"/>
          </a:xfrm>
          <a:prstGeom prst="rect">
            <a:avLst/>
          </a:prstGeom>
          <a:noFill/>
        </p:spPr>
        <p:txBody>
          <a:bodyPr wrap="square">
            <a:spAutoFit/>
          </a:bodyPr>
          <a:lstStyle/>
          <a:p>
            <a:pPr>
              <a:defRPr sz="1700" b="1">
                <a:solidFill>
                  <a:srgbClr val="213C57"/>
                </a:solidFill>
                <a:latin typeface="Aptos"/>
              </a:defRPr>
            </a:pPr>
            <a:r>
              <a:t>Artifact review</a:t>
            </a:r>
          </a:p>
        </p:txBody>
      </p:sp>
      <p:sp>
        <p:nvSpPr>
          <p:cNvPr id="27" name="TextBox 26"/>
          <p:cNvSpPr txBox="1"/>
          <p:nvPr/>
        </p:nvSpPr>
        <p:spPr>
          <a:xfrm>
            <a:off x="10213848" y="5349240"/>
            <a:ext cx="3758183" cy="868680"/>
          </a:xfrm>
          <a:prstGeom prst="rect">
            <a:avLst/>
          </a:prstGeom>
          <a:noFill/>
        </p:spPr>
        <p:txBody>
          <a:bodyPr wrap="square">
            <a:spAutoFit/>
          </a:bodyPr>
          <a:lstStyle/>
          <a:p>
            <a:pPr>
              <a:defRPr sz="1300" b="0">
                <a:solidFill>
                  <a:srgbClr val="213C57"/>
                </a:solidFill>
                <a:latin typeface="Aptos"/>
              </a:defRPr>
            </a:pPr>
            <a:r>
              <a:t>Vendor lineage + dependencies</a:t>
            </a:r>
          </a:p>
        </p:txBody>
      </p:sp>
      <p:cxnSp>
        <p:nvCxnSpPr>
          <p:cNvPr id="28" name="Connector 27"/>
          <p:cNvCxnSpPr/>
          <p:nvPr/>
        </p:nvCxnSpPr>
        <p:spPr>
          <a:xfrm>
            <a:off x="12070080" y="3429000"/>
            <a:ext cx="0" cy="64008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560320" y="4069080"/>
            <a:ext cx="9509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560320" y="4069080"/>
            <a:ext cx="0" cy="68580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31520" y="6858000"/>
            <a:ext cx="13258800" cy="502920"/>
          </a:xfrm>
          <a:prstGeom prst="rect">
            <a:avLst/>
          </a:prstGeom>
          <a:noFill/>
        </p:spPr>
        <p:txBody>
          <a:bodyPr wrap="square">
            <a:spAutoFit/>
          </a:bodyPr>
          <a:lstStyle/>
          <a:p>
            <a:pPr>
              <a:defRPr sz="1200" b="0">
                <a:solidFill>
                  <a:srgbClr val="61768A"/>
                </a:solidFill>
                <a:latin typeface="Aptos"/>
              </a:defRPr>
            </a:pPr>
            <a:r>
              <a:t>Conceptual flow; logical stages may execute in parallel or be selected conditionally where indicated.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3716000" cy="594360"/>
          </a:xfrm>
          <a:prstGeom prst="rect">
            <a:avLst/>
          </a:prstGeom>
          <a:noFill/>
        </p:spPr>
        <p:txBody>
          <a:bodyPr wrap="square">
            <a:spAutoFit/>
          </a:bodyPr>
          <a:lstStyle/>
          <a:p>
            <a:pPr>
              <a:defRPr sz="2900" b="1">
                <a:solidFill>
                  <a:srgbClr val="213C57"/>
                </a:solidFill>
                <a:latin typeface="Aptos"/>
              </a:defRPr>
            </a:pPr>
            <a:r>
              <a:t>Implementation and acceptance workflow</a:t>
            </a:r>
          </a:p>
        </p:txBody>
      </p:sp>
      <p:sp>
        <p:nvSpPr>
          <p:cNvPr id="3" name="TextBox 2"/>
          <p:cNvSpPr txBox="1"/>
          <p:nvPr/>
        </p:nvSpPr>
        <p:spPr>
          <a:xfrm>
            <a:off x="502920" y="960120"/>
            <a:ext cx="13716000" cy="457200"/>
          </a:xfrm>
          <a:prstGeom prst="rect">
            <a:avLst/>
          </a:prstGeom>
          <a:noFill/>
        </p:spPr>
        <p:txBody>
          <a:bodyPr wrap="square">
            <a:spAutoFit/>
          </a:bodyPr>
          <a:lstStyle/>
          <a:p>
            <a:pPr>
              <a:defRPr sz="1500" b="0">
                <a:solidFill>
                  <a:srgbClr val="61768A"/>
                </a:solidFill>
                <a:latin typeface="Aptos"/>
              </a:defRPr>
            </a:pPr>
            <a:r>
              <a:t>Start small and expand based on measured results—not assumed accuracy or savings.</a:t>
            </a:r>
          </a:p>
        </p:txBody>
      </p:sp>
      <p:sp>
        <p:nvSpPr>
          <p:cNvPr id="4" name="TextBox 3"/>
          <p:cNvSpPr txBox="1"/>
          <p:nvPr/>
        </p:nvSpPr>
        <p:spPr>
          <a:xfrm>
            <a:off x="502920" y="7863840"/>
            <a:ext cx="12801600" cy="228600"/>
          </a:xfrm>
          <a:prstGeom prst="rect">
            <a:avLst/>
          </a:prstGeom>
          <a:noFill/>
        </p:spPr>
        <p:txBody>
          <a:bodyPr wrap="square">
            <a:spAutoFit/>
          </a:bodyPr>
          <a:lstStyle/>
          <a:p>
            <a:pPr>
              <a:defRPr sz="1000" b="0">
                <a:solidFill>
                  <a:srgbClr val="61768A"/>
                </a:solidFill>
                <a:latin typeface="Aptos"/>
              </a:defRPr>
            </a:pPr>
            <a:r>
              <a:t>CONFIDENTIAL — INTERNAL DISCUSSION | Proposed architecture • All components editable</a:t>
            </a:r>
          </a:p>
        </p:txBody>
      </p:sp>
      <p:sp>
        <p:nvSpPr>
          <p:cNvPr id="5" name="TextBox 4"/>
          <p:cNvSpPr txBox="1"/>
          <p:nvPr/>
        </p:nvSpPr>
        <p:spPr>
          <a:xfrm>
            <a:off x="13533120" y="7863840"/>
            <a:ext cx="914400" cy="228600"/>
          </a:xfrm>
          <a:prstGeom prst="rect">
            <a:avLst/>
          </a:prstGeom>
          <a:noFill/>
        </p:spPr>
        <p:txBody>
          <a:bodyPr wrap="square">
            <a:spAutoFit/>
          </a:bodyPr>
          <a:lstStyle/>
          <a:p>
            <a:pPr>
              <a:defRPr sz="1000" b="0">
                <a:solidFill>
                  <a:srgbClr val="213C57"/>
                </a:solidFill>
                <a:latin typeface="Aptos"/>
              </a:defRPr>
            </a:pPr>
            <a:r>
              <a:t>12</a:t>
            </a:r>
          </a:p>
        </p:txBody>
      </p:sp>
      <p:sp>
        <p:nvSpPr>
          <p:cNvPr id="6" name="Rectangle 5"/>
          <p:cNvSpPr/>
          <p:nvPr/>
        </p:nvSpPr>
        <p:spPr>
          <a:xfrm>
            <a:off x="59436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9968"/>
            <a:ext cx="3758183" cy="457200"/>
          </a:xfrm>
          <a:prstGeom prst="rect">
            <a:avLst/>
          </a:prstGeom>
          <a:noFill/>
        </p:spPr>
        <p:txBody>
          <a:bodyPr wrap="square">
            <a:spAutoFit/>
          </a:bodyPr>
          <a:lstStyle/>
          <a:p>
            <a:pPr>
              <a:defRPr sz="1700" b="1">
                <a:solidFill>
                  <a:srgbClr val="213C57"/>
                </a:solidFill>
                <a:latin typeface="Aptos"/>
              </a:defRPr>
            </a:pPr>
            <a:r>
              <a:t>Approve design</a:t>
            </a:r>
          </a:p>
        </p:txBody>
      </p:sp>
      <p:sp>
        <p:nvSpPr>
          <p:cNvPr id="8" name="TextBox 7"/>
          <p:cNvSpPr txBox="1"/>
          <p:nvPr/>
        </p:nvSpPr>
        <p:spPr>
          <a:xfrm>
            <a:off x="704088" y="2514600"/>
            <a:ext cx="3758183" cy="868680"/>
          </a:xfrm>
          <a:prstGeom prst="rect">
            <a:avLst/>
          </a:prstGeom>
          <a:noFill/>
        </p:spPr>
        <p:txBody>
          <a:bodyPr wrap="square">
            <a:spAutoFit/>
          </a:bodyPr>
          <a:lstStyle/>
          <a:p>
            <a:pPr>
              <a:defRPr sz="1300" b="0">
                <a:solidFill>
                  <a:srgbClr val="213C57"/>
                </a:solidFill>
                <a:latin typeface="Aptos"/>
              </a:defRPr>
            </a:pPr>
            <a:r>
              <a:t>Ownership + security gates</a:t>
            </a:r>
          </a:p>
        </p:txBody>
      </p:sp>
      <p:cxnSp>
        <p:nvCxnSpPr>
          <p:cNvPr id="9" name="Connector 8"/>
          <p:cNvCxnSpPr/>
          <p:nvPr/>
        </p:nvCxnSpPr>
        <p:spPr>
          <a:xfrm>
            <a:off x="457200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34924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58968" y="2029968"/>
            <a:ext cx="3758183" cy="457200"/>
          </a:xfrm>
          <a:prstGeom prst="rect">
            <a:avLst/>
          </a:prstGeom>
          <a:noFill/>
        </p:spPr>
        <p:txBody>
          <a:bodyPr wrap="square">
            <a:spAutoFit/>
          </a:bodyPr>
          <a:lstStyle/>
          <a:p>
            <a:pPr>
              <a:defRPr sz="1700" b="1">
                <a:solidFill>
                  <a:srgbClr val="213C57"/>
                </a:solidFill>
                <a:latin typeface="Aptos"/>
              </a:defRPr>
            </a:pPr>
            <a:r>
              <a:t>Validate import</a:t>
            </a:r>
          </a:p>
        </p:txBody>
      </p:sp>
      <p:sp>
        <p:nvSpPr>
          <p:cNvPr id="12" name="TextBox 11"/>
          <p:cNvSpPr txBox="1"/>
          <p:nvPr/>
        </p:nvSpPr>
        <p:spPr>
          <a:xfrm>
            <a:off x="5458968" y="2514600"/>
            <a:ext cx="3758183" cy="868680"/>
          </a:xfrm>
          <a:prstGeom prst="rect">
            <a:avLst/>
          </a:prstGeom>
          <a:noFill/>
        </p:spPr>
        <p:txBody>
          <a:bodyPr wrap="square">
            <a:spAutoFit/>
          </a:bodyPr>
          <a:lstStyle/>
          <a:p>
            <a:pPr>
              <a:defRPr sz="1300" b="0">
                <a:solidFill>
                  <a:srgbClr val="213C57"/>
                </a:solidFill>
                <a:latin typeface="Aptos"/>
              </a:defRPr>
            </a:pPr>
            <a:r>
              <a:t>Completeness + freshness</a:t>
            </a:r>
          </a:p>
        </p:txBody>
      </p:sp>
      <p:cxnSp>
        <p:nvCxnSpPr>
          <p:cNvPr id="13" name="Connector 12"/>
          <p:cNvCxnSpPr/>
          <p:nvPr/>
        </p:nvCxnSpPr>
        <p:spPr>
          <a:xfrm>
            <a:off x="9326880" y="265176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0104120" y="192024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13848" y="2029968"/>
            <a:ext cx="3758183" cy="457200"/>
          </a:xfrm>
          <a:prstGeom prst="rect">
            <a:avLst/>
          </a:prstGeom>
          <a:noFill/>
        </p:spPr>
        <p:txBody>
          <a:bodyPr wrap="square">
            <a:spAutoFit/>
          </a:bodyPr>
          <a:lstStyle/>
          <a:p>
            <a:pPr>
              <a:defRPr sz="1700" b="1">
                <a:solidFill>
                  <a:srgbClr val="213C57"/>
                </a:solidFill>
                <a:latin typeface="Aptos"/>
              </a:defRPr>
            </a:pPr>
            <a:r>
              <a:t>Test retrieval</a:t>
            </a:r>
          </a:p>
        </p:txBody>
      </p:sp>
      <p:sp>
        <p:nvSpPr>
          <p:cNvPr id="16" name="TextBox 15"/>
          <p:cNvSpPr txBox="1"/>
          <p:nvPr/>
        </p:nvSpPr>
        <p:spPr>
          <a:xfrm>
            <a:off x="10213848" y="2514600"/>
            <a:ext cx="3758183" cy="868680"/>
          </a:xfrm>
          <a:prstGeom prst="rect">
            <a:avLst/>
          </a:prstGeom>
          <a:noFill/>
        </p:spPr>
        <p:txBody>
          <a:bodyPr wrap="square">
            <a:spAutoFit/>
          </a:bodyPr>
          <a:lstStyle/>
          <a:p>
            <a:pPr>
              <a:defRPr sz="1300" b="0">
                <a:solidFill>
                  <a:srgbClr val="213C57"/>
                </a:solidFill>
                <a:latin typeface="Aptos"/>
              </a:defRPr>
            </a:pPr>
            <a:r>
              <a:t>Known evidence sets</a:t>
            </a:r>
          </a:p>
        </p:txBody>
      </p:sp>
      <p:sp>
        <p:nvSpPr>
          <p:cNvPr id="17" name="Rectangle 16"/>
          <p:cNvSpPr/>
          <p:nvPr/>
        </p:nvSpPr>
        <p:spPr>
          <a:xfrm>
            <a:off x="59436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4864608"/>
            <a:ext cx="3758183" cy="457200"/>
          </a:xfrm>
          <a:prstGeom prst="rect">
            <a:avLst/>
          </a:prstGeom>
          <a:noFill/>
        </p:spPr>
        <p:txBody>
          <a:bodyPr wrap="square">
            <a:spAutoFit/>
          </a:bodyPr>
          <a:lstStyle/>
          <a:p>
            <a:pPr>
              <a:defRPr sz="1700" b="1">
                <a:solidFill>
                  <a:srgbClr val="213C57"/>
                </a:solidFill>
                <a:latin typeface="Aptos"/>
              </a:defRPr>
            </a:pPr>
            <a:r>
              <a:t>Evaluate answers</a:t>
            </a:r>
          </a:p>
        </p:txBody>
      </p:sp>
      <p:sp>
        <p:nvSpPr>
          <p:cNvPr id="19" name="TextBox 18"/>
          <p:cNvSpPr txBox="1"/>
          <p:nvPr/>
        </p:nvSpPr>
        <p:spPr>
          <a:xfrm>
            <a:off x="704088" y="5349240"/>
            <a:ext cx="3758183" cy="868680"/>
          </a:xfrm>
          <a:prstGeom prst="rect">
            <a:avLst/>
          </a:prstGeom>
          <a:noFill/>
        </p:spPr>
        <p:txBody>
          <a:bodyPr wrap="square">
            <a:spAutoFit/>
          </a:bodyPr>
          <a:lstStyle/>
          <a:p>
            <a:pPr>
              <a:defRPr sz="1300" b="0">
                <a:solidFill>
                  <a:srgbClr val="213C57"/>
                </a:solidFill>
                <a:latin typeface="Aptos"/>
              </a:defRPr>
            </a:pPr>
            <a:r>
              <a:t>Citations + abstention</a:t>
            </a:r>
          </a:p>
        </p:txBody>
      </p:sp>
      <p:cxnSp>
        <p:nvCxnSpPr>
          <p:cNvPr id="20" name="Connector 19"/>
          <p:cNvCxnSpPr/>
          <p:nvPr/>
        </p:nvCxnSpPr>
        <p:spPr>
          <a:xfrm>
            <a:off x="457200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4924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58968" y="4864608"/>
            <a:ext cx="3758183" cy="457200"/>
          </a:xfrm>
          <a:prstGeom prst="rect">
            <a:avLst/>
          </a:prstGeom>
          <a:noFill/>
        </p:spPr>
        <p:txBody>
          <a:bodyPr wrap="square">
            <a:spAutoFit/>
          </a:bodyPr>
          <a:lstStyle/>
          <a:p>
            <a:pPr>
              <a:defRPr sz="1700" b="1">
                <a:solidFill>
                  <a:srgbClr val="213C57"/>
                </a:solidFill>
                <a:latin typeface="Aptos"/>
              </a:defRPr>
            </a:pPr>
            <a:r>
              <a:t>Load-test + harden</a:t>
            </a:r>
          </a:p>
        </p:txBody>
      </p:sp>
      <p:sp>
        <p:nvSpPr>
          <p:cNvPr id="23" name="TextBox 22"/>
          <p:cNvSpPr txBox="1"/>
          <p:nvPr/>
        </p:nvSpPr>
        <p:spPr>
          <a:xfrm>
            <a:off x="5458968" y="5349240"/>
            <a:ext cx="3758183" cy="868680"/>
          </a:xfrm>
          <a:prstGeom prst="rect">
            <a:avLst/>
          </a:prstGeom>
          <a:noFill/>
        </p:spPr>
        <p:txBody>
          <a:bodyPr wrap="square">
            <a:spAutoFit/>
          </a:bodyPr>
          <a:lstStyle/>
          <a:p>
            <a:pPr>
              <a:defRPr sz="1300" b="0">
                <a:solidFill>
                  <a:srgbClr val="213C57"/>
                </a:solidFill>
                <a:latin typeface="Aptos"/>
              </a:defRPr>
            </a:pPr>
            <a:r>
              <a:t>Latency + access tests</a:t>
            </a:r>
          </a:p>
        </p:txBody>
      </p:sp>
      <p:cxnSp>
        <p:nvCxnSpPr>
          <p:cNvPr id="24" name="Connector 23"/>
          <p:cNvCxnSpPr/>
          <p:nvPr/>
        </p:nvCxnSpPr>
        <p:spPr>
          <a:xfrm>
            <a:off x="9326880" y="5486400"/>
            <a:ext cx="77724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0104120" y="4754880"/>
            <a:ext cx="3977639" cy="1508760"/>
          </a:xfrm>
          <a:prstGeom prst="rect">
            <a:avLst/>
          </a:prstGeom>
          <a:solidFill>
            <a:srgbClr val="FFF3BC"/>
          </a:solidFill>
          <a:ln>
            <a:solidFill>
              <a:srgbClr val="D8B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13848" y="4864608"/>
            <a:ext cx="3758183" cy="457200"/>
          </a:xfrm>
          <a:prstGeom prst="rect">
            <a:avLst/>
          </a:prstGeom>
          <a:noFill/>
        </p:spPr>
        <p:txBody>
          <a:bodyPr wrap="square">
            <a:spAutoFit/>
          </a:bodyPr>
          <a:lstStyle/>
          <a:p>
            <a:pPr>
              <a:defRPr sz="1700" b="1">
                <a:solidFill>
                  <a:srgbClr val="213C57"/>
                </a:solidFill>
                <a:latin typeface="Aptos"/>
              </a:defRPr>
            </a:pPr>
            <a:r>
              <a:t>Controlled release</a:t>
            </a:r>
          </a:p>
        </p:txBody>
      </p:sp>
      <p:sp>
        <p:nvSpPr>
          <p:cNvPr id="27" name="TextBox 26"/>
          <p:cNvSpPr txBox="1"/>
          <p:nvPr/>
        </p:nvSpPr>
        <p:spPr>
          <a:xfrm>
            <a:off x="10213848" y="5349240"/>
            <a:ext cx="3758183" cy="868680"/>
          </a:xfrm>
          <a:prstGeom prst="rect">
            <a:avLst/>
          </a:prstGeom>
          <a:noFill/>
        </p:spPr>
        <p:txBody>
          <a:bodyPr wrap="square">
            <a:spAutoFit/>
          </a:bodyPr>
          <a:lstStyle/>
          <a:p>
            <a:pPr>
              <a:defRPr sz="1300" b="0">
                <a:solidFill>
                  <a:srgbClr val="213C57"/>
                </a:solidFill>
                <a:latin typeface="Aptos"/>
              </a:defRPr>
            </a:pPr>
            <a:r>
              <a:t>Monitor and improve</a:t>
            </a:r>
          </a:p>
        </p:txBody>
      </p:sp>
      <p:cxnSp>
        <p:nvCxnSpPr>
          <p:cNvPr id="28" name="Connector 27"/>
          <p:cNvCxnSpPr/>
          <p:nvPr/>
        </p:nvCxnSpPr>
        <p:spPr>
          <a:xfrm>
            <a:off x="12070080" y="3429000"/>
            <a:ext cx="0" cy="64008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560320" y="4069080"/>
            <a:ext cx="9509760" cy="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560320" y="4069080"/>
            <a:ext cx="0" cy="685800"/>
          </a:xfrm>
          <a:prstGeom prst="line">
            <a:avLst/>
          </a:prstGeom>
          <a:ln w="22860">
            <a:solidFill>
              <a:srgbClr val="466782"/>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31520" y="6858000"/>
            <a:ext cx="13258800" cy="502920"/>
          </a:xfrm>
          <a:prstGeom prst="rect">
            <a:avLst/>
          </a:prstGeom>
          <a:noFill/>
        </p:spPr>
        <p:txBody>
          <a:bodyPr wrap="square">
            <a:spAutoFit/>
          </a:bodyPr>
          <a:lstStyle/>
          <a:p>
            <a:pPr>
              <a:defRPr sz="1200" b="0">
                <a:solidFill>
                  <a:srgbClr val="61768A"/>
                </a:solidFill>
                <a:latin typeface="Aptos"/>
              </a:defRPr>
            </a:pPr>
            <a:r>
              <a:t>Conceptual flow; logical stages may execute in parallel or be selected conditionally where indicated.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