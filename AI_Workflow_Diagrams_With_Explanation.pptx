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Enhanced diagram-first edition: added explanatory narrative, business rationale and takeaway. User-supplied visual reference: Agentic_RAG_MCP_Architecture.pptx. All diagrams are editable. Initial production is internal-only and has no demo discussion. This is a proposed architecture, not an approved product list. No ROI, schedule, accuracy or GPU performance guarantees.</a:t>
            </a:r>
          </a:p>
          <a:p>
            <a:r>
              <a:t>Technical references: https://github.com/pgvector/pgvector ; https://www.postgresql.org/docs/current/datatype-json.html ; https://docs.vllm.ai/en/latest/ ; https://huggingface.co/Snowflake/snowflake-arctic-embed-m-v1.5 ; https://dev.meta.ai/llama/llama3_1/license ; https://learn.microsoft.com/en-us/azure/architecture/ai-ml/guide/rag/rag-prompt-engineering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Enhanced diagram-first edition: added explanatory narrative, business rationale and takeaway. User-supplied visual reference: Agentic_RAG_MCP_Architecture.pptx. All diagrams are editable. Initial production is internal-only and has no demo discussion. This is a proposed architecture, not an approved product list. No ROI, schedule, accuracy or GPU performance guarantees.</a:t>
            </a:r>
          </a:p>
          <a:p>
            <a:r>
              <a:t>Technical references: https://github.com/pgvector/pgvector ; https://www.postgresql.org/docs/current/datatype-json.html ; https://docs.vllm.ai/en/latest/ ; https://huggingface.co/Snowflake/snowflake-arctic-embed-m-v1.5 ; https://dev.meta.ai/llama/llama3_1/license ; https://learn.microsoft.com/en-us/azure/architecture/ai-ml/guide/rag/rag-prompt-engineering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Enhanced diagram-first edition: added explanatory narrative, business rationale and takeaway. User-supplied visual reference: Agentic_RAG_MCP_Architecture.pptx. All diagrams are editable. Initial production is internal-only and has no demo discussion. This is a proposed architecture, not an approved product list. No ROI, schedule, accuracy or GPU performance guarantees.</a:t>
            </a:r>
          </a:p>
          <a:p>
            <a:r>
              <a:t>Technical references: https://github.com/pgvector/pgvector ; https://www.postgresql.org/docs/current/datatype-json.html ; https://docs.vllm.ai/en/latest/ ; https://huggingface.co/Snowflake/snowflake-arctic-embed-m-v1.5 ; https://dev.meta.ai/llama/llama3_1/license ; https://learn.microsoft.com/en-us/azure/architecture/ai-ml/guide/rag/rag-prompt-engineering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Enhanced diagram-first edition: added explanatory narrative, business rationale and takeaway. User-supplied visual reference: Agentic_RAG_MCP_Architecture.pptx. All diagrams are editable. Initial production is internal-only and has no demo discussion. This is a proposed architecture, not an approved product list. No ROI, schedule, accuracy or GPU performance guarantees.</a:t>
            </a:r>
          </a:p>
          <a:p>
            <a:r>
              <a:t>Technical references: https://github.com/pgvector/pgvector ; https://www.postgresql.org/docs/current/datatype-json.html ; https://docs.vllm.ai/en/latest/ ; https://huggingface.co/Snowflake/snowflake-arctic-embed-m-v1.5 ; https://dev.meta.ai/llama/llama3_1/license ; https://learn.microsoft.com/en-us/azure/architecture/ai-ml/guide/rag/rag-prompt-engineering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Enhanced diagram-first edition: added explanatory narrative, business rationale and takeaway. User-supplied visual reference: Agentic_RAG_MCP_Architecture.pptx. All diagrams are editable. Initial production is internal-only and has no demo discussion. This is a proposed architecture, not an approved product list. No ROI, schedule, accuracy or GPU performance guarantees.</a:t>
            </a:r>
          </a:p>
          <a:p>
            <a:r>
              <a:t>Technical references: https://github.com/pgvector/pgvector ; https://www.postgresql.org/docs/current/datatype-json.html ; https://docs.vllm.ai/en/latest/ ; https://huggingface.co/Snowflake/snowflake-arctic-embed-m-v1.5 ; https://dev.meta.ai/llama/llama3_1/license ; https://learn.microsoft.com/en-us/azure/architecture/ai-ml/guide/rag/rag-prompt-engineering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Enhanced diagram-first edition: added explanatory narrative, business rationale and takeaway. User-supplied visual reference: Agentic_RAG_MCP_Architecture.pptx. All diagrams are editable. Initial production is internal-only and has no demo discussion. This is a proposed architecture, not an approved product list. No ROI, schedule, accuracy or GPU performance guarantees.</a:t>
            </a:r>
          </a:p>
          <a:p>
            <a:r>
              <a:t>Technical references: https://github.com/pgvector/pgvector ; https://www.postgresql.org/docs/current/datatype-json.html ; https://docs.vllm.ai/en/latest/ ; https://huggingface.co/Snowflake/snowflake-arctic-embed-m-v1.5 ; https://dev.meta.ai/llama/llama3_1/license ; https://learn.microsoft.com/en-us/azure/architecture/ai-ml/guide/rag/rag-prompt-engineering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Enhanced diagram-first edition: added explanatory narrative, business rationale and takeaway. User-supplied visual reference: Agentic_RAG_MCP_Architecture.pptx. All diagrams are editable. Initial production is internal-only and has no demo discussion. This is a proposed architecture, not an approved product list. No ROI, schedule, accuracy or GPU performance guarantees.</a:t>
            </a:r>
          </a:p>
          <a:p>
            <a:r>
              <a:t>Technical references: https://github.com/pgvector/pgvector ; https://www.postgresql.org/docs/current/datatype-json.html ; https://docs.vllm.ai/en/latest/ ; https://huggingface.co/Snowflake/snowflake-arctic-embed-m-v1.5 ; https://dev.meta.ai/llama/llama3_1/license ; https://learn.microsoft.com/en-us/azure/architecture/ai-ml/guide/rag/rag-prompt-engineering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Enhanced diagram-first edition: added explanatory narrative, business rationale and takeaway. User-supplied visual reference: Agentic_RAG_MCP_Architecture.pptx. All diagrams are editable. Initial production is internal-only and has no demo discussion. This is a proposed architecture, not an approved product list. No ROI, schedule, accuracy or GPU performance guarantees.</a:t>
            </a:r>
          </a:p>
          <a:p>
            <a:r>
              <a:t>Technical references: https://github.com/pgvector/pgvector ; https://www.postgresql.org/docs/current/datatype-json.html ; https://docs.vllm.ai/en/latest/ ; https://huggingface.co/Snowflake/snowflake-arctic-embed-m-v1.5 ; https://dev.meta.ai/llama/llama3_1/license ; https://learn.microsoft.com/en-us/azure/architecture/ai-ml/guide/rag/rag-prompt-engineering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Enhanced diagram-first edition: added explanatory narrative, business rationale and takeaway. User-supplied visual reference: Agentic_RAG_MCP_Architecture.pptx. All diagrams are editable. Initial production is internal-only and has no demo discussion. This is a proposed architecture, not an approved product list. No ROI, schedule, accuracy or GPU performance guarantees.</a:t>
            </a:r>
          </a:p>
          <a:p>
            <a:r>
              <a:t>Technical references: https://github.com/pgvector/pgvector ; https://www.postgresql.org/docs/current/datatype-json.html ; https://docs.vllm.ai/en/latest/ ; https://huggingface.co/Snowflake/snowflake-arctic-embed-m-v1.5 ; https://dev.meta.ai/llama/llama3_1/license ; https://learn.microsoft.com/en-us/azure/architecture/ai-ml/guide/rag/rag-prompt-engineering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Enhanced diagram-first edition: added explanatory narrative, business rationale and takeaway. User-supplied visual reference: Agentic_RAG_MCP_Architecture.pptx. All diagrams are editable. Initial production is internal-only and has no demo discussion. This is a proposed architecture, not an approved product list. No ROI, schedule, accuracy or GPU performance guarantees.</a:t>
            </a:r>
          </a:p>
          <a:p>
            <a:r>
              <a:t>Technical references: https://github.com/pgvector/pgvector ; https://www.postgresql.org/docs/current/datatype-json.html ; https://docs.vllm.ai/en/latest/ ; https://huggingface.co/Snowflake/snowflake-arctic-embed-m-v1.5 ; https://dev.meta.ai/llama/llama3_1/license ; https://learn.microsoft.com/en-us/azure/architecture/ai-ml/guide/rag/rag-prompt-engineering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Enhanced diagram-first edition: added explanatory narrative, business rationale and takeaway. User-supplied visual reference: Agentic_RAG_MCP_Architecture.pptx. All diagrams are editable. Initial production is internal-only and has no demo discussion. This is a proposed architecture, not an approved product list. No ROI, schedule, accuracy or GPU performance guarantees.</a:t>
            </a:r>
          </a:p>
          <a:p>
            <a:r>
              <a:t>Technical references: https://github.com/pgvector/pgvector ; https://www.postgresql.org/docs/current/datatype-json.html ; https://docs.vllm.ai/en/latest/ ; https://huggingface.co/Snowflake/snowflake-arctic-embed-m-v1.5 ; https://dev.meta.ai/llama/llama3_1/license ; https://learn.microsoft.com/en-us/azure/architecture/ai-ml/guide/rag/rag-prompt-engineering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Enhanced diagram-first edition: added explanatory narrative, business rationale and takeaway. User-supplied visual reference: Agentic_RAG_MCP_Architecture.pptx. All diagrams are editable. Initial production is internal-only and has no demo discussion. This is a proposed architecture, not an approved product list. No ROI, schedule, accuracy or GPU performance guarantees.</a:t>
            </a:r>
          </a:p>
          <a:p>
            <a:r>
              <a:t>Technical references: https://github.com/pgvector/pgvector ; https://www.postgresql.org/docs/current/datatype-json.html ; https://docs.vllm.ai/en/latest/ ; https://huggingface.co/Snowflake/snowflake-arctic-embed-m-v1.5 ; https://dev.meta.ai/llama/llama3_1/license ; https://learn.microsoft.com/en-us/azure/architecture/ai-ml/guide/rag/rag-prompt-engineering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3C66"/>
                </a:solidFill>
                <a:latin typeface="Aptos"/>
              </a:defRPr>
            </a:pPr>
            <a:r>
              <a:t>Secure AI incident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353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Aptos"/>
              </a:defRPr>
            </a:pPr>
            <a:r>
              <a:t>A shared internal platform that turns historical support records into evidence-backed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58A"/>
                </a:solidFill>
                <a:latin typeface="Aptos"/>
              </a:defRPr>
            </a:pPr>
            <a:r>
              <a:t>CONFIDENTIAL — INTERNAL DISCUSSION | Proposed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7400" y="7818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D54"/>
                </a:solidFill>
                <a:latin typeface="Aptos"/>
              </a:defRPr>
            </a:pPr>
            <a:r>
              <a:t>01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408432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9736"/>
            <a:ext cx="3846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ServiceNow + 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384657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Descriptions, notes and resolutions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7012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273040" y="2331720"/>
            <a:ext cx="408432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1912" y="2459736"/>
            <a:ext cx="3846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Internal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1912" y="3035808"/>
            <a:ext cx="384657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PostgreSQL + pgvector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5736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860280" y="2331720"/>
            <a:ext cx="408432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79152" y="2459736"/>
            <a:ext cx="3846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AI assistance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79152" y="3035808"/>
            <a:ext cx="384657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Retrieve, explain and cite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Daily imports create a searchable knowledge collection. An internal portal retrieves relevant evidence and asks the hosted model to explain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Support staff can inspect previous fixes without manually searching two systems. Value must be measured; no savings or accuracy guarantees are assumed.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7178040"/>
            <a:ext cx="13441680" cy="438912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7232904"/>
            <a:ext cx="1298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3D54"/>
                </a:solidFill>
                <a:latin typeface="Aptos"/>
              </a:defRPr>
            </a:pPr>
            <a:r>
              <a:t>Production boundary: no external AI-provider calls; no automatic remediation or source-system updates.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3C66"/>
                </a:solidFill>
                <a:latin typeface="Aptos"/>
              </a:defRPr>
            </a:pPr>
            <a:r>
              <a:t>Whole architecture: evidence before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353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Aptos"/>
              </a:defRPr>
            </a:pPr>
            <a:r>
              <a:t>The backend orchestrates work; the AI gateway governs model access.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58A"/>
                </a:solidFill>
                <a:latin typeface="Aptos"/>
              </a:defRPr>
            </a:pPr>
            <a:r>
              <a:t>CONFIDENTIAL — INTERNAL DISCUSSION | Proposed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7400" y="7818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D54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React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Question + conversation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2331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2623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510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510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Retrieval + prompt assembly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374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6666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553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AI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553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Approved model routing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0417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00709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596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vLLM + Llama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96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Structured JSON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Backend first embeds the query through the gateway, then retrieves authorised evidence from PostgreSQL. It sends that evidence with the model request.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The LLM has no unrestricted database connection. Keeping orchestration separate makes access checks, citations and model changes easier to control.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7178040"/>
            <a:ext cx="13441680" cy="438912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7232904"/>
            <a:ext cx="1298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3D54"/>
                </a:solidFill>
                <a:latin typeface="Aptos"/>
              </a:defRPr>
            </a:pPr>
            <a:r>
              <a:t>Return path: Llama → vLLM → gateway → backend validation and source links → React.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4251960"/>
            <a:ext cx="2834640" cy="594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0832" y="4379976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PostgreSQL + pgvector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4956048"/>
            <a:ext cx="259689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</a:p>
        </p:txBody>
      </p:sp>
      <p:cxnSp>
        <p:nvCxnSpPr>
          <p:cNvPr id="30" name="Connector 29"/>
          <p:cNvCxnSpPr/>
          <p:nvPr/>
        </p:nvCxnSpPr>
        <p:spPr>
          <a:xfrm>
            <a:off x="5212080" y="4069080"/>
            <a:ext cx="0" cy="18288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0" y="4343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D54"/>
                </a:solidFill>
                <a:latin typeface="Aptos"/>
              </a:defRPr>
            </a:pPr>
            <a:r>
              <a:t>↔ Backend retrieval; embedding calls go via gateway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3C66"/>
                </a:solidFill>
                <a:latin typeface="Aptos"/>
              </a:defRPr>
            </a:pPr>
            <a:r>
              <a:t>Daily ingestion: preserve the source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353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Aptos"/>
              </a:defRPr>
            </a:pPr>
            <a:r>
              <a:t>ServiceNow incidents and Azure DevOps Tasks/Bugs remain independent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58A"/>
                </a:solidFill>
                <a:latin typeface="Aptos"/>
              </a:defRPr>
            </a:pPr>
            <a:r>
              <a:t>CONFIDENTIAL — INTERNAL DISCUSSION | Proposed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7400" y="7818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D54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Source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Read approved records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2331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2623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510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Import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510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Upsert + checkpoints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374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6666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553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553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Records + notes + URLs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0417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00709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596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Search refresh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96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Changed passages + 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Load historical records once, then process daily changes. Include resolution fields and relevant discussion entries, preserving original source IDs and timestamps.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A resolution may exist in either system. Explicit ticket references are retained, but similar wording must not be turned into a confirmed relationship.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7178040"/>
            <a:ext cx="13441680" cy="438912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7232904"/>
            <a:ext cx="1298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3D54"/>
                </a:solidFill>
                <a:latin typeface="Aptos"/>
              </a:defRPr>
            </a:pPr>
            <a:r>
              <a:t>Track freshness, failed imports, deletions and access changes; no write-back to source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3C66"/>
                </a:solidFill>
                <a:latin typeface="Aptos"/>
              </a:defRPr>
            </a:pPr>
            <a:r>
              <a:t>PostgreSQL: one foundation, multiple representations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353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Aptos"/>
              </a:defRPr>
            </a:pPr>
            <a:r>
              <a:t>Structured records, flexible JSON and vector search coexist in the proposed database.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58A"/>
                </a:solidFill>
                <a:latin typeface="Aptos"/>
              </a:defRPr>
            </a:pPr>
            <a:r>
              <a:t>CONFIDENTIAL — INTERNAL DISCUSSION | Proposed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7400" y="7818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D54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Imported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Columns + JSONB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2331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2623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510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Notes / comments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510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Separate child rows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374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6666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553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Search passages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553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Readable text + source 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0417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00709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596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pgvector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96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Embedding +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Core fields support filters and lookups; JSONB retains additional approved fields. Separate note rows preserve author, timestamp and entry type.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Source content remains intact while derived search representations can be rebuilt. Gateway management data uses separate credentials and permissions.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7178040"/>
            <a:ext cx="13441680" cy="438912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7232904"/>
            <a:ext cx="1298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3D54"/>
                </a:solidFill>
                <a:latin typeface="Aptos"/>
              </a:defRPr>
            </a:pPr>
            <a:r>
              <a:t>Text and vectors are stored together; the embedding does not replace the original ticket or passage.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3C66"/>
                </a:solidFill>
                <a:latin typeface="Aptos"/>
              </a:defRPr>
            </a:pPr>
            <a:r>
              <a:t>Embedding and indexing: prepare for semantic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353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Aptos"/>
              </a:defRPr>
            </a:pPr>
            <a:r>
              <a:t>Use an approved internal embedding model—not an external embedding API.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58A"/>
                </a:solidFill>
                <a:latin typeface="Aptos"/>
              </a:defRPr>
            </a:pPr>
            <a:r>
              <a:t>CONFIDENTIAL — INTERNAL DISCUSSION | Proposed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7400" y="7818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D54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Prepare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Descriptions + resolutions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2331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2623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510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Split passages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510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Coherent units + parent 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374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6666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553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Embedding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553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Text → numerical vector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0417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00709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596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Store in pgvector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96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Passage + vector +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After imports, create or refresh embeddings for new and changed passages. Candidate: Snowflake Arctic Embed M v1.5, subject to testing and provenance approval.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Semantic matching can find related wording. Long discussions need coherent splitting so the resolution retains enough context to be useful.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7178040"/>
            <a:ext cx="13441680" cy="438912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7232904"/>
            <a:ext cx="1298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3D54"/>
                </a:solidFill>
                <a:latin typeface="Aptos"/>
              </a:defRPr>
            </a:pPr>
            <a:r>
              <a:t>Use the same embedding model/configuration for queries; a model change requires coordinated re-embedding.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3C66"/>
                </a:solidFill>
                <a:latin typeface="Aptos"/>
              </a:defRPr>
            </a:pPr>
            <a:r>
              <a:t>Retrieval: select useful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353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Aptos"/>
              </a:defRPr>
            </a:pPr>
            <a:r>
              <a:t>Combine exact identifiers and keywords with semantic similarity.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58A"/>
                </a:solidFill>
                <a:latin typeface="Aptos"/>
              </a:defRPr>
            </a:pPr>
            <a:r>
              <a:t>CONFIDENTIAL — INTERNAL DISCUSSION | Proposed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7400" y="7818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D54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User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Include relevant context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2331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2623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510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Hybrid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510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Terms + query vector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374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6666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553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Access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553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Authorised records only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0417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00709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596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Evidence bundle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96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Excerpts + source IDs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Retrieve candidates, apply access controls and gather associated descriptions, investigation notes and resolution text. Add reranking only if evaluation justifies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Finding a similar symptom is not proof of the same cause. Evaluate whether useful resolution evidence appears near the top—not merely matching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7178040"/>
            <a:ext cx="13441680" cy="438912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7232904"/>
            <a:ext cx="1298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3D54"/>
                </a:solidFill>
                <a:latin typeface="Aptos"/>
              </a:defRPr>
            </a:pPr>
            <a:r>
              <a:t>First milestone: reliable search results with original links, before relying on generated answers.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3C66"/>
                </a:solidFill>
                <a:latin typeface="Aptos"/>
              </a:defRPr>
            </a:pPr>
            <a:r>
              <a:t>Follow-ups: remember context and choose the right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353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Aptos"/>
              </a:defRPr>
            </a:pPr>
            <a:r>
              <a:t>Not every user message requires a new similarity 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58A"/>
                </a:solidFill>
                <a:latin typeface="Aptos"/>
              </a:defRPr>
            </a:pPr>
            <a:r>
              <a:t>CONFIDENTIAL — INTERNAL DISCUSSION | Proposed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7400" y="7818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D54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Follow-up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Load session context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2331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2623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510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Resolve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510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Lookup or changed facts?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374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6666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553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Targeted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553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Known record / new search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0417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00709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596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Grounded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96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Evidence + clarification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“When did that happen?” can fetch dates for the previously cited incident. “Only Ubuntu is affected” adds a constraint and triggers revised retrieval.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Maintain user-provided facts and source references without treating earlier AI answers as proof. Ask for clarification when references are ambiguous.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7178040"/>
            <a:ext cx="13441680" cy="438912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7232904"/>
            <a:ext cx="1298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3D54"/>
                </a:solidFill>
                <a:latin typeface="Aptos"/>
              </a:defRPr>
            </a:pPr>
            <a:r>
              <a:t>Conversation state is scoped to the user/session; evidence permissions are checked again when 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3C66"/>
                </a:solidFill>
                <a:latin typeface="Aptos"/>
              </a:defRPr>
            </a:pPr>
            <a:r>
              <a:t>Generation: structured input, structured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353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Aptos"/>
              </a:defRPr>
            </a:pPr>
            <a:r>
              <a:t>The model receives a bounded evidence package, not the entire database.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58A"/>
                </a:solidFill>
                <a:latin typeface="Aptos"/>
              </a:defRPr>
            </a:pPr>
            <a:r>
              <a:t>CONFIDENTIAL — INTERNAL DISCUSSION | Proposed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7400" y="7818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D54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Backend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Instructions + query + history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2331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2623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510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Evidence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510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Passages + evidence IDs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374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6666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553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vLLM / Llama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553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Generate to JSON schema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0417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00709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596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Backend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96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Check fields + IDs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Request a summary, historical findings, suggested checks, evidence IDs and missing information. Instruct the model to treat ticket text as evidence—not instructions.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Distinguish a recorded fix from an investigation suggestion. A valid JSON response can still contain unsupported claims and needs evidence-quality checks.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7178040"/>
            <a:ext cx="13441680" cy="438912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7232904"/>
            <a:ext cx="1298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3D54"/>
                </a:solidFill>
                <a:latin typeface="Aptos"/>
              </a:defRPr>
            </a:pPr>
            <a:r>
              <a:t>Insufficient or conflicting evidence must be explicit; do not claim a historical fix is confirmed for a new incident.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3C66"/>
                </a:solidFill>
                <a:latin typeface="Aptos"/>
              </a:defRPr>
            </a:pPr>
            <a:r>
              <a:t>Citations: a verifiable route back to the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353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Aptos"/>
              </a:defRPr>
            </a:pPr>
            <a:r>
              <a:t>Historical claims and evidence-based recommendations must carry supporting references.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58A"/>
                </a:solidFill>
                <a:latin typeface="Aptos"/>
              </a:defRPr>
            </a:pPr>
            <a:r>
              <a:t>CONFIDENTIAL — INTERNAL DISCUSSION | Proposed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7400" y="7818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D54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Stored source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Original ticket / work item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2331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2623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510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Evidence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510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Passage mapped to record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374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6666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553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Model citation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553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References evidence 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0417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00709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596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Clickable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96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Backend attaches verified 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Backend resolves IDs to authoritative stored URLs, with excerpts and evidence locations such as Resolution notes or Discussion comment.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The user can verify the original record. Reject unknown IDs; never rely on the model to invent links. A citation must actually support its associated claim.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7178040"/>
            <a:ext cx="13441680" cy="438912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7232904"/>
            <a:ext cx="1298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3D54"/>
                </a:solidFill>
                <a:latin typeface="Aptos"/>
              </a:defRPr>
            </a:pPr>
            <a:r>
              <a:t>Show last-imported information; imported evidence may lag the current source because refresh is daily.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3C66"/>
                </a:solidFill>
                <a:latin typeface="Aptos"/>
              </a:defRPr>
            </a:pPr>
            <a:r>
              <a:t>vLLM: an internal inference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353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Aptos"/>
              </a:defRPr>
            </a:pPr>
            <a:r>
              <a:t>Deploy existing inference engineering rather than rebuilding model-serving algorithms.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58A"/>
                </a:solidFill>
                <a:latin typeface="Aptos"/>
              </a:defRPr>
            </a:pPr>
            <a:r>
              <a:t>CONFIDENTIAL — INTERNAL DISCUSSION | Proposed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7400" y="7818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D54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Gateway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Prompt + evidence + schema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2331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2623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510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vLLM scheduler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510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Batching + KV-cache handling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374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6666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553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Llama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553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Approved hosted checkpoint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0417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00709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596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JSON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96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Back through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vLLM provides model execution, continuous batching, PagedAttention, prefix caching and a compatible API. Llama 3.1 8B Instruct is a baseline candidate.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Validate quantization quality, context memory and latency with realistic load. No external per-token charges does not mean unlimited capacity or zero operating cost.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7178040"/>
            <a:ext cx="13441680" cy="438912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7232904"/>
            <a:ext cx="1298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3D54"/>
                </a:solidFill>
                <a:latin typeface="Aptos"/>
              </a:defRPr>
            </a:pPr>
            <a:r>
              <a:t>Model, serving software, dependencies and licence all require review; GPU sizing follows measured demand.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3C66"/>
                </a:solidFill>
                <a:latin typeface="Aptos"/>
              </a:defRPr>
            </a:pPr>
            <a:r>
              <a:t>Shared AI gateway: expand behind one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353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Aptos"/>
              </a:defRPr>
            </a:pPr>
            <a:r>
              <a:t>Initial production stays internal; future routes are explicitly approval-gated.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58A"/>
                </a:solidFill>
                <a:latin typeface="Aptos"/>
              </a:defRPr>
            </a:pPr>
            <a:r>
              <a:t>CONFIDENTIAL — INTERNAL DISCUSSION | Proposed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7400" y="7818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D54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Ticket assistant + future apps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2331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2623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510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Internal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510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Identity + allowlists + quotas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374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6666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553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Internal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553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Llama / embeddings / fine-tunes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0417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00709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596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Future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96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Separate commercial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Expose versioned model aliases through an approved gateway. Register additional internal endpoints after evaluation; gateway choice remains open to client approval.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Future AWS Bedrock or Google Vertex AI access requires a separate security/data-policy decision. Neither is an enabled production route or automatic fallback.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7178040"/>
            <a:ext cx="13441680" cy="438912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7232904"/>
            <a:ext cx="1298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3D54"/>
                </a:solidFill>
                <a:latin typeface="Aptos"/>
              </a:defRPr>
            </a:pPr>
            <a:r>
              <a:t>Adding a model alias does not train the model or create GPU capacity. Fine-tuning is a separate evaluated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3C66"/>
                </a:solidFill>
                <a:latin typeface="Aptos"/>
              </a:defRPr>
            </a:pPr>
            <a:r>
              <a:t>Rollout: demonstrate quality, then expand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353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Aptos"/>
              </a:defRPr>
            </a:pPr>
            <a:r>
              <a:t>Agree ownership, security gates and measurable acceptance criteria.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58A"/>
                </a:solidFill>
                <a:latin typeface="Aptos"/>
              </a:defRPr>
            </a:pPr>
            <a:r>
              <a:t>CONFIDENTIAL — INTERNAL DISCUSSION | Proposed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7400" y="7818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D54"/>
                </a:solidFill>
                <a:latin typeface="Aptos"/>
              </a:defRPr>
            </a:pPr>
            <a:r>
              <a:t>12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Data + architecture + artifacts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2331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2623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510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510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Imports + retrieval + citations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374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6666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553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Harden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553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Security + load + operations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04170" y="3200400"/>
            <a:ext cx="502920" cy="0"/>
          </a:xfrm>
          <a:prstGeom prst="line">
            <a:avLst/>
          </a:prstGeom>
          <a:ln w="25400">
            <a:solidFill>
              <a:srgbClr val="466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007090" y="2331720"/>
            <a:ext cx="2937510" cy="1737360"/>
          </a:xfrm>
          <a:prstGeom prst="rect">
            <a:avLst/>
          </a:prstGeom>
          <a:solidFill>
            <a:srgbClr val="FFF3BD"/>
          </a:solidFill>
          <a:ln>
            <a:solidFill>
              <a:srgbClr val="DAB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5962" y="2459736"/>
            <a:ext cx="26997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3D54"/>
                </a:solidFill>
                <a:latin typeface="Aptos"/>
              </a:defRPr>
            </a:pPr>
            <a:r>
              <a:t>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962" y="3035808"/>
            <a:ext cx="269976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D54"/>
                </a:solidFill>
                <a:latin typeface="Aptos"/>
              </a:defRPr>
            </a:pPr>
            <a:r>
              <a:t>Monitor and improve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Start with a bounded authorised collection. Test known-answer queries, follow-ups, missing evidence, citation support and attempted access to restricted records.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3C6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7784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D54"/>
                </a:solidFill>
                <a:latin typeface="Aptos"/>
              </a:defRPr>
            </a:pPr>
            <a:r>
              <a:t>Track sync reliability, evidence relevance, supported claims, abstention and latency. Review non-Chinese vendor/model lineage and dependency provenance.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7178040"/>
            <a:ext cx="13441680" cy="438912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7232904"/>
            <a:ext cx="1298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63D54"/>
                </a:solidFill>
                <a:latin typeface="Aptos"/>
              </a:defRPr>
            </a:pPr>
            <a:r>
              <a:t>Confirm air-gap versus controlled egress; approve secrets, logging, retention, incident response and production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