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explain the proposed production architecture. No demo discussion. Benefits are intended outcomes, not measured savings. Product choices remain subject to client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requirements: thousands of records; daily refresh; no guaranteed link between ServiceNow and ADO. Preserve explicit ticket references when present; do not infer confirmed relationships from similarity.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are fictional. Conversational RAG reference: https://learn.microsoft.com/en-us/azure/architecture/ai-ml/guide/rag/rag-prompt-engineering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Logical architecture, not network topology. Query embedding precedes vector retrieval; retrieved evidence precedes answer generation. Gateway does not query ticket DB. vLLM API: https://docs.vllm.ai/en/latest/serving/online_serving/openai_compatible_server/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Pagination, checkpoints, idempotent writes and reconciliation are proposed engineering requirements. Source APIs: https://www.servicenow.com/docs/r/api-reference/rest-apis/c_TableAPI.html ; https://learn.microsoft.com/en-us/rest/api/azure/devops/wit/comments/get-comments?view=azure-devops-rest-7.1 ; https://learn.microsoft.com/en-us/rest/api/azure/devops/wit/reporting-work-item-revisions?view=azure-devops-rest-7.1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PostgreSQL JSONB: https://www.postgresql.org/docs/current/datatype-json.html ; pgvector: https://github.com/pgvector/pgvector . These are proposed schema boundaries, not a final physical data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candidate, not a final approved choice: https://huggingface.co/Snowflake/snowflake-arctic-embed-m-v1.5 . Hybrid retrieval and evaluation: https://www.databricks.com/blog/rag-workflow . Optional reranking only if evaluation demonstrates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Conversation design source: https://learn.microsoft.com/en-us/azure/architecture/ai-ml/guide/rag/rag-prompt-engineering . Session state retention and permissions require client-approved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Structured outputs: https://docs.vllm.ai/en/latest/features/structured_outputs/ . Citation validation and evidence-support testing are application responsibilities; perfect factual verification is not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features: https://docs.vllm.ai/en/v0.26.0/ ; API: https://docs.vllm.ai/en/latest/serving/online_serving/openai_compatible_server/ ; Llama custom licence: https://dev.meta.ai/llama/llama3_1/license . Llama is open-weight under a custom licence, not Apache 2.0. GPU and ten-user performance are not guaranteed.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production is internal-only. AWS Bedrock and Google Vertex AI are optional future model-access platforms, not currently approved routes or individual reasoning models. Gateway candidates to evaluate, not endorsements: https://developer.konghq.com/ai-gateway/ ; https://github.com/maximhq/bifrost . Model/vendor lineage subject to non-Chinese procurement requirement. Changing embedding models requires coordinated re-embedding/index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cost savings, delivery dates, accuracy percentages or concurrency guarantees are asserted. Establish baseline and acceptance criteria with stakeholders. Air-gap versus controlled egress remains to be confirmed. vLLM security reference: https://docs.vllm.ai/en/stable/usage/security/ . Internal hosting is not sufficient security by itself; source content can carry prompt injection. GPU sizing follows workload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Secure AI Incident Resolution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A reusable internal AI platform, starting with ServiceNow and Azure DevOps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243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Turn historical investigation and resolution records</a:t>
            </a:r>
          </a:p>
          <a:p>
            <a:pPr>
              <a:spcAft>
                <a:spcPts val="12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into evidence-backed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86200"/>
            <a:ext cx="4023360" cy="228600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886200"/>
            <a:ext cx="45720" cy="22860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54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Faster access to previous fixes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Less repeated investigation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886200"/>
            <a:ext cx="4023360" cy="228600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3886200"/>
            <a:ext cx="45720" cy="22860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40690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PRODUCTION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754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Internally hosted models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 external AI-provider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886200"/>
            <a:ext cx="4023360" cy="228600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3886200"/>
            <a:ext cx="45720" cy="22860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40690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EXPANDABLE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754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Shared AI gateway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More approved models over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01  |  The problem: useful knowledge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Resolutions can appear in either source, both sources, or only a discussion 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309360" cy="36118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36118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58521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Incident descriptions and metadata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Work notes and investigation history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Resolution notes and source 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6492240" cy="36118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920240"/>
            <a:ext cx="45720" cy="36118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AZURE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88920"/>
            <a:ext cx="6035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Tasks and Bugs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Descriptions, comments and custom fields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Investigation findings and recorded fixes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Records are usually independent: similar wording does not prove that two records are linked.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02  |  The user experience: answers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A React chat portal supports initial questions, follow-ups and source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1 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“Outlook keeps asking for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 password.”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Search across authorised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ServiceNow and ADO records.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2  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88920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“Only Ubuntu is affected.”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Carry conversation context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forward and retrieve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more applicable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920240"/>
            <a:ext cx="429768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1031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3 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78892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Read relevant historical fixes.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Click the original ticket or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work-item citation.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See uncertainty explicitly.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Advisory only: the platform does not automatically update tickets or execute remediation.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03  |  Whole workflow: clear separation of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The backend retrieves evidence; the gateway governs model calls; vLLM executes Llama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063240" cy="16916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45720" cy="16916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REACT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Question + follow-up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148840"/>
            <a:ext cx="3063240" cy="16916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148840"/>
            <a:ext cx="45720" cy="16916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APPLICATION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Identity • history • orchestration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148840"/>
            <a:ext cx="3063240" cy="16916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2148840"/>
            <a:ext cx="45720" cy="16916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3317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INTERNAL AI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175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Approved model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2148840"/>
            <a:ext cx="3063240" cy="16916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9920" y="2148840"/>
            <a:ext cx="45720" cy="16916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23317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vLLM + 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30175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Structured answer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51D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51D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2448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51D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17720"/>
            <a:ext cx="3566160" cy="173736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617720"/>
            <a:ext cx="45720" cy="173736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006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DAILY 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ServiceNow + ADO → 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4617720"/>
            <a:ext cx="4160520" cy="173736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4617720"/>
            <a:ext cx="45720" cy="173736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80060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POSTGRESQL + PGVECTOR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486400"/>
            <a:ext cx="3703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Records • passages • vectors • URLs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617720"/>
            <a:ext cx="4800600" cy="173736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4617720"/>
            <a:ext cx="45720" cy="173736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480060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INTERNAL EMBEDDING 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5486400"/>
            <a:ext cx="4343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Called through gateway for text → vectors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93192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C3D7"/>
                </a:solidFill>
                <a:latin typeface="Aptos"/>
              </a:defRPr>
            </a:pPr>
            <a:r>
              <a:t>Backend ↔ PostgreSQL retrieval   |   Backend → gateway → embedding endpoint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Return: Llama → gateway → backend validation + verified citation links → React portal.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04  |  Daily ingestion: read-only and traceable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Initial historical load, followed by a repeatable daily update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39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Read approved records,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notes and comments.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Keep source identifiers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and authoritative URLs.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6596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96596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4884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UPSERT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834639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Insert new records.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Update changed records.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Preserve field metadata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and explicit 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96596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96596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14884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834639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Track sync results.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Handle deletions and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permission changes.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Flag stale or failed imports.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After import: refresh changed searchable passages and embeddings; display last successful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05  |  PostgreSQL: one data foundation, multiple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Use structured columns, JSONB and child tables—not one giant flattened ticket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30936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SOURCE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ServiceNow tickets and ADO work items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Core fields in relational columns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Additional approved source fields in JSONB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Notes / comments as separate rows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Source IDs, timestamps and verified URLs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649224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SEARCH AND APPLICATION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8892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Readable passages linked to parent records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Vectors in pgvector columns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Explicit cross-record references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Conversation state and import checkpoints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Access metadata for retrieval 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Gateway management data is separate, with separate credentials and no access to ticket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06  |  Embedding and retrieval: find evidence before generating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An embedding model supports semantic matching; exact search retains identifiers and error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Build readable text from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descriptions, investigation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and resolutions.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Split long text into coherent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passages with source 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88920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Internal model converts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passages into vectors.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Store them in pgvector.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Candidate: Snowflake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Arctic Embed M v1.5.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920240"/>
            <a:ext cx="429768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1031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78892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Embed the user question.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Combine semantic and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keyword / exact matching.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Filter by access; fetch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relevant source context.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Candidate embedding model and model lineage require approval; retrieval quality must be tested.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07  |  Conversations: follow-ups change the retrieval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Maintain session context without treating earlier AI answers as authoritative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30936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“WHEN DID THAT OCCUR?”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Resolve “that” to the previously cited record.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Fetch the known record’s date fields if needed.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Distinguish opened, occurred and resolved dates.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Return the original clickable citation.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Clarify if multiple records are ambiguous.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649224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“ONLY UBUNTU IS AFFECTED”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8892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Record the new user-provided constraint.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Reassess prior evidence and search again.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Do not assume a suggested fix was attempted.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Show applicable alternatives with citations.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State when no supported alternative exists.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Keep conversation state scoped to authorised users; apply access checks on every evidence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08  |  Grounded answers: structured, cited and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The LLM receives selected evidence—not unrestricted access to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MODEL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System instructions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Current question + context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Relevant conversation facts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Evidence excerpts + IDs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Required JSON schema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Treat source text as data,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not executable instructions.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416052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MODEL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88920"/>
            <a:ext cx="3703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Issue summary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Historical findings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Suggested next checks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Evidence IDs per claim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Missing / conflicting evidence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Clarifying questions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 unsupported certainty.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920240"/>
            <a:ext cx="4297680" cy="429768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920240"/>
            <a:ext cx="45720" cy="429768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1031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BACKEND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78892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Validate structure and types.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Reject unknown evidence IDs.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Attach stored source URLs.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Show supporting excerpts.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Check citation support.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Schema validity is not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 guarantee of truth.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Each historical claim and evidence-based recommendation must be traceable to original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09  |  vLLM: reuse the inference engineering already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Internally hosted Llama is served through an internal API—no external provider calls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30936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WHAT vLLM PROVIDES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Model execution and compatible HTTP API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Continuous batching of requests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PagedAttention KV-cache management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Prefix caching and chunked prefill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Configurable inference and output settings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649224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WHAT WE STILL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8892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Candidate: Llama 3.1 8B Instruct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Quantized checkpoint quality and provenance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GPU memory versus context / concurrency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Response latency under realistic traffic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Selected version, dependencies and licence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No external per-token provider fees; infrastructure, context limits and capacity still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10  |  Shared AI gateway: grow without binding apps to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Choose the gateway through client platform and security review; product selection remains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30936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INITIAL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Approved internal gateway endpoint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Application identities and model allowlists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Routing, quotas, timeouts and metrics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Internally hosted Llama + embeddings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Private model endpoints; no external fallback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Stable, versioned model aliases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6492240" cy="438912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920240"/>
            <a:ext cx="45720" cy="438912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FUTURE OPTIONS — APPROVAL GATED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8892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More internally hosted approved models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Internally hosted fine-tuned model endpoints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Additional applications and use cases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Optional AWS Bedrock / Google Vertex AI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Only under a separately approved data policy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 automatic external routing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Gateway registration does not train a model or create GPU capacity; each endpoint needs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09728" cy="45720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1F5FA"/>
                </a:solidFill>
                <a:latin typeface="Aptos"/>
              </a:defRPr>
            </a:pPr>
            <a:r>
              <a:t>11  |  Security, rollout and management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3C3D7"/>
                </a:solidFill>
                <a:latin typeface="Aptos"/>
              </a:defRPr>
            </a:pPr>
            <a:r>
              <a:t>Start with a bounded deployment; expand only on demonstrated quality and approved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44383"/>
            <a:ext cx="13350240" cy="13716"/>
          </a:xfrm>
          <a:prstGeom prst="rect">
            <a:avLst/>
          </a:prstGeom>
          <a:solidFill>
            <a:srgbClr val="38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54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C3D7"/>
                </a:solidFill>
                <a:latin typeface="Aptos"/>
              </a:defRPr>
            </a:pPr>
            <a:r>
              <a:t>CONFIDENTIAL — INTERNAL DISCUSSION  |  Proposed production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08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1D6BE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160520" cy="44348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45720" cy="44348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SECURITY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370332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Internal data + model processing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Network isolation and controlled egress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Identity + least-privilege access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Secrets, encryption and safe logs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Approved artifacts / dependencies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Non-Chinese vendor + model review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Retention and incident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4160520" cy="44348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920240"/>
            <a:ext cx="45720" cy="44348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3703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PHASED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88920"/>
            <a:ext cx="370332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1  Approve data and architecture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2  Validate import completeness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3  Test retrieval and citation links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4  Evaluate model / conversation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5  Load-test and harden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6  Controlled production release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7  Add use cases behind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920240"/>
            <a:ext cx="4297680" cy="4434840"/>
          </a:xfrm>
          <a:prstGeom prst="rect">
            <a:avLst/>
          </a:prstGeom>
          <a:solidFill>
            <a:srgbClr val="1B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920240"/>
            <a:ext cx="45720" cy="4434840"/>
          </a:xfrm>
          <a:prstGeom prst="rect">
            <a:avLst/>
          </a:prstGeom>
          <a:solidFill>
            <a:srgbClr val="51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1031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1D6BE"/>
                </a:solidFill>
                <a:latin typeface="Aptos"/>
              </a:defRPr>
            </a:pPr>
            <a:r>
              <a:t>SUCCESS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788920"/>
            <a:ext cx="38404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Relevant evidence in top results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Claims supported by citations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Correct insufficient-evidence replies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Access-leakage negative tests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Daily sync reliability and freshness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Latency at agreed concurrency</a:t>
            </a:r>
          </a:p>
          <a:p>
            <a:pPr>
              <a:spcAft>
                <a:spcPts val="12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Observed usefulness to support staff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720840"/>
            <a:ext cx="13075920" cy="594360"/>
          </a:xfrm>
          <a:prstGeom prst="rect">
            <a:avLst/>
          </a:prstGeom>
          <a:solidFill>
            <a:srgbClr val="263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793992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3C677"/>
                </a:solidFill>
                <a:latin typeface="Aptos"/>
              </a:defRPr>
            </a:pPr>
            <a:r>
              <a:t>Management alignment: approve ownership, security gates and measurable acceptance criteria—not untested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